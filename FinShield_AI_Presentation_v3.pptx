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_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bar_1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1A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ag"/>
          <p:cNvSpPr/>
          <p:nvPr/>
        </p:nvSpPr>
        <p:spPr>
          <a:xfrm>
            <a:off x="640080" y="384048"/>
            <a:ext cx="502920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94A3B8"/>
                </a:solidFill>
              </a:rPr>
              <a:t>INTERNAL · MANAGER PRESENTATION · 2026</a:t>
            </a:r>
          </a:p>
        </p:txBody>
      </p:sp>
      <p:sp>
        <p:nvSpPr>
          <p:cNvPr id="5" name="title##01"/>
          <p:cNvSpPr txBox="1"/>
          <p:nvPr/>
        </p:nvSpPr>
        <p:spPr>
          <a:xfrm>
            <a:off x="640080" y="10058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0" b="1" i="0">
                <a:solidFill>
                  <a:srgbClr val="FFFFFF"/>
                </a:solidFill>
              </a:rPr>
              <a:t>FinShield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87168"/>
            <a:ext cx="4572000" cy="12700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ub##01"/>
          <p:cNvSpPr txBox="1"/>
          <p:nvPr/>
        </p:nvSpPr>
        <p:spPr>
          <a:xfrm>
            <a:off x="640080" y="26517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Real-Time ML-Powered Fraud Detection
for Banks · Fintechs · Insurance · Payment Processors</a:t>
            </a:r>
          </a:p>
        </p:txBody>
      </p:sp>
      <p:sp>
        <p:nvSpPr>
          <p:cNvPr id="8" name="stat_0"/>
          <p:cNvSpPr/>
          <p:nvPr/>
        </p:nvSpPr>
        <p:spPr>
          <a:xfrm>
            <a:off x="640080" y="40690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A0A0F"/>
                </a:solidFill>
              </a:rPr>
              <a:t>&lt;100ms  scoring</a:t>
            </a:r>
          </a:p>
        </p:txBody>
      </p:sp>
      <p:sp>
        <p:nvSpPr>
          <p:cNvPr id="9" name="stat_1"/>
          <p:cNvSpPr/>
          <p:nvPr/>
        </p:nvSpPr>
        <p:spPr>
          <a:xfrm>
            <a:off x="3657600" y="40690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A0A0F"/>
                </a:solidFill>
              </a:rPr>
              <a:t>200+  ML features</a:t>
            </a:r>
          </a:p>
        </p:txBody>
      </p:sp>
      <p:sp>
        <p:nvSpPr>
          <p:cNvPr id="10" name="stat_2"/>
          <p:cNvSpPr/>
          <p:nvPr/>
        </p:nvSpPr>
        <p:spPr>
          <a:xfrm>
            <a:off x="6675120" y="40690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A0A0F"/>
                </a:solidFill>
              </a:rPr>
              <a:t>20+  fraud rules</a:t>
            </a:r>
          </a:p>
        </p:txBody>
      </p:sp>
      <p:sp>
        <p:nvSpPr>
          <p:cNvPr id="11" name="foot"/>
          <p:cNvSpPr txBox="1"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backend/  ·  frontend/  ·  FastAPI + Next.js 16  ·  AWS ECS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_01"/>
          <p:cNvSpPr/>
          <p:nvPr/>
        </p:nvSpPr>
        <p:spPr>
          <a:xfrm>
            <a:off x="457200" y="292608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EF4444"/>
                </a:solidFill>
              </a:rPr>
              <a:t>01 / NEED</a:t>
            </a:r>
          </a:p>
        </p:txBody>
      </p:sp>
      <p:sp>
        <p:nvSpPr>
          <p:cNvPr id="3" name="hdr_01"/>
          <p:cNvSpPr txBox="1"/>
          <p:nvPr/>
        </p:nvSpPr>
        <p:spPr>
          <a:xfrm>
            <a:off x="457200" y="713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Why This Project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926080" cy="12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tat_0.5"/>
          <p:cNvSpPr/>
          <p:nvPr/>
        </p:nvSpPr>
        <p:spPr>
          <a:xfrm>
            <a:off x="457200" y="1874519"/>
            <a:ext cx="3474720" cy="1645920"/>
          </a:xfrm>
          <a:prstGeom prst="rect">
            <a:avLst/>
          </a:prstGeom>
          <a:solidFill>
            <a:srgbClr val="11111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bar_0.5"/>
          <p:cNvSpPr/>
          <p:nvPr/>
        </p:nvSpPr>
        <p:spPr>
          <a:xfrm>
            <a:off x="457200" y="1874519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v_0.5"/>
          <p:cNvSpPr txBox="1"/>
          <p:nvPr/>
        </p:nvSpPr>
        <p:spPr>
          <a:xfrm>
            <a:off x="640080" y="20116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F4444"/>
                </a:solidFill>
              </a:rPr>
              <a:t>$485B</a:t>
            </a:r>
          </a:p>
        </p:txBody>
      </p:sp>
      <p:sp>
        <p:nvSpPr>
          <p:cNvPr id="8" name="sl_0.5"/>
          <p:cNvSpPr txBox="1"/>
          <p:nvPr/>
        </p:nvSpPr>
        <p:spPr>
          <a:xfrm>
            <a:off x="640080" y="2788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lost to fraud globally/yr</a:t>
            </a:r>
          </a:p>
        </p:txBody>
      </p:sp>
      <p:sp>
        <p:nvSpPr>
          <p:cNvPr id="9" name="stat_4.7"/>
          <p:cNvSpPr/>
          <p:nvPr/>
        </p:nvSpPr>
        <p:spPr>
          <a:xfrm>
            <a:off x="4297680" y="1874519"/>
            <a:ext cx="3474720" cy="1645920"/>
          </a:xfrm>
          <a:prstGeom prst="rect">
            <a:avLst/>
          </a:prstGeom>
          <a:solidFill>
            <a:srgbClr val="11111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bar_4.7"/>
          <p:cNvSpPr/>
          <p:nvPr/>
        </p:nvSpPr>
        <p:spPr>
          <a:xfrm>
            <a:off x="4297680" y="1874519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v_4.7"/>
          <p:cNvSpPr txBox="1"/>
          <p:nvPr/>
        </p:nvSpPr>
        <p:spPr>
          <a:xfrm>
            <a:off x="4480560" y="20116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</a:rPr>
              <a:t>72%</a:t>
            </a:r>
          </a:p>
        </p:txBody>
      </p:sp>
      <p:sp>
        <p:nvSpPr>
          <p:cNvPr id="12" name="sl_4.7"/>
          <p:cNvSpPr txBox="1"/>
          <p:nvPr/>
        </p:nvSpPr>
        <p:spPr>
          <a:xfrm>
            <a:off x="4480560" y="2788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fraud undetected in real-time</a:t>
            </a:r>
          </a:p>
        </p:txBody>
      </p:sp>
      <p:sp>
        <p:nvSpPr>
          <p:cNvPr id="13" name="stat_8.9"/>
          <p:cNvSpPr/>
          <p:nvPr/>
        </p:nvSpPr>
        <p:spPr>
          <a:xfrm>
            <a:off x="8138160" y="1874519"/>
            <a:ext cx="3474720" cy="1645920"/>
          </a:xfrm>
          <a:prstGeom prst="rect">
            <a:avLst/>
          </a:prstGeom>
          <a:solidFill>
            <a:srgbClr val="11111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bar_8.9"/>
          <p:cNvSpPr/>
          <p:nvPr/>
        </p:nvSpPr>
        <p:spPr>
          <a:xfrm>
            <a:off x="8138160" y="1874519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v_8.9"/>
          <p:cNvSpPr txBox="1"/>
          <p:nvPr/>
        </p:nvSpPr>
        <p:spPr>
          <a:xfrm>
            <a:off x="8321040" y="20116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B82F6"/>
                </a:solidFill>
              </a:rPr>
              <a:t>&lt;300ms</a:t>
            </a:r>
          </a:p>
        </p:txBody>
      </p:sp>
      <p:sp>
        <p:nvSpPr>
          <p:cNvPr id="16" name="sl_8.9"/>
          <p:cNvSpPr txBox="1"/>
          <p:nvPr/>
        </p:nvSpPr>
        <p:spPr>
          <a:xfrm>
            <a:off x="8321040" y="2788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window to block pre-settlement</a:t>
            </a:r>
          </a:p>
        </p:txBody>
      </p:sp>
      <p:sp>
        <p:nvSpPr>
          <p:cNvPr id="17" name="pain_bg_0"/>
          <p:cNvSpPr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x_0"/>
          <p:cNvSpPr txBox="1"/>
          <p:nvPr/>
        </p:nvSpPr>
        <p:spPr>
          <a:xfrm>
            <a:off x="594360" y="384047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x</a:t>
            </a:r>
          </a:p>
        </p:txBody>
      </p:sp>
      <p:sp>
        <p:nvSpPr>
          <p:cNvPr id="19" name="pt_0"/>
          <p:cNvSpPr txBox="1"/>
          <p:nvPr/>
        </p:nvSpPr>
        <p:spPr>
          <a:xfrm>
            <a:off x="914400" y="3822191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Rule-based systems miss novel fraud patterns — attackers adapt in days</a:t>
            </a:r>
          </a:p>
        </p:txBody>
      </p:sp>
      <p:sp>
        <p:nvSpPr>
          <p:cNvPr id="20" name="pain_bg_1"/>
          <p:cNvSpPr/>
          <p:nvPr/>
        </p:nvSpPr>
        <p:spPr>
          <a:xfrm>
            <a:off x="457200" y="4315968"/>
            <a:ext cx="11247120" cy="4572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x_1"/>
          <p:cNvSpPr txBox="1"/>
          <p:nvPr/>
        </p:nvSpPr>
        <p:spPr>
          <a:xfrm>
            <a:off x="594360" y="440740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x</a:t>
            </a:r>
          </a:p>
        </p:txBody>
      </p:sp>
      <p:sp>
        <p:nvSpPr>
          <p:cNvPr id="22" name="pt_1"/>
          <p:cNvSpPr txBox="1"/>
          <p:nvPr/>
        </p:nvSpPr>
        <p:spPr>
          <a:xfrm>
            <a:off x="914400" y="43891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Batch scoring detects fraud hours after money has already moved</a:t>
            </a:r>
          </a:p>
        </p:txBody>
      </p:sp>
      <p:sp>
        <p:nvSpPr>
          <p:cNvPr id="23" name="pain_bg_2"/>
          <p:cNvSpPr/>
          <p:nvPr/>
        </p:nvSpPr>
        <p:spPr>
          <a:xfrm>
            <a:off x="457200" y="4882896"/>
            <a:ext cx="11247120" cy="4572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x_2"/>
          <p:cNvSpPr txBox="1"/>
          <p:nvPr/>
        </p:nvSpPr>
        <p:spPr>
          <a:xfrm>
            <a:off x="594360" y="49743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x</a:t>
            </a:r>
          </a:p>
        </p:txBody>
      </p:sp>
      <p:sp>
        <p:nvSpPr>
          <p:cNvPr id="25" name="pt_2"/>
          <p:cNvSpPr txBox="1"/>
          <p:nvPr/>
        </p:nvSpPr>
        <p:spPr>
          <a:xfrm>
            <a:off x="914400" y="495604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Building in-house ML fraud stack costs Rs.5Cr+ and 18+ months</a:t>
            </a:r>
          </a:p>
        </p:txBody>
      </p:sp>
      <p:sp>
        <p:nvSpPr>
          <p:cNvPr id="26" name="pain_bg_3"/>
          <p:cNvSpPr/>
          <p:nvPr/>
        </p:nvSpPr>
        <p:spPr>
          <a:xfrm>
            <a:off x="457200" y="5449823"/>
            <a:ext cx="11247120" cy="4572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x_3"/>
          <p:cNvSpPr txBox="1"/>
          <p:nvPr/>
        </p:nvSpPr>
        <p:spPr>
          <a:xfrm>
            <a:off x="594360" y="5541263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x</a:t>
            </a:r>
          </a:p>
        </p:txBody>
      </p:sp>
      <p:sp>
        <p:nvSpPr>
          <p:cNvPr id="28" name="pt_3"/>
          <p:cNvSpPr txBox="1"/>
          <p:nvPr/>
        </p:nvSpPr>
        <p:spPr>
          <a:xfrm>
            <a:off x="914400" y="5522975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No single SaaS covers Banks, Fintechs, Insurance and Payment Processors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_02"/>
          <p:cNvSpPr/>
          <p:nvPr/>
        </p:nvSpPr>
        <p:spPr>
          <a:xfrm>
            <a:off x="457200" y="292608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3B82F6"/>
                </a:solidFill>
              </a:rPr>
              <a:t>02 / USERS</a:t>
            </a:r>
          </a:p>
        </p:txBody>
      </p:sp>
      <p:sp>
        <p:nvSpPr>
          <p:cNvPr id="3" name="hdr_02"/>
          <p:cNvSpPr txBox="1"/>
          <p:nvPr/>
        </p:nvSpPr>
        <p:spPr>
          <a:xfrm>
            <a:off x="457200" y="713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Who Is It Built For?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92608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u_0.4"/>
          <p:cNvSpPr/>
          <p:nvPr/>
        </p:nvSpPr>
        <p:spPr>
          <a:xfrm>
            <a:off x="365760" y="1828800"/>
            <a:ext cx="2743200" cy="4754880"/>
          </a:xfrm>
          <a:prstGeom prst="rect">
            <a:avLst/>
          </a:prstGeom>
          <a:solidFill>
            <a:srgbClr val="111118"/>
          </a:solidFill>
          <a:ln w="9525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ua_0.4"/>
          <p:cNvSpPr/>
          <p:nvPr/>
        </p:nvSpPr>
        <p:spPr>
          <a:xfrm>
            <a:off x="365760" y="182880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l_0.4"/>
          <p:cNvSpPr txBox="1"/>
          <p:nvPr/>
        </p:nvSpPr>
        <p:spPr>
          <a:xfrm>
            <a:off x="50292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Bank / Credit Union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78608"/>
            <a:ext cx="2468880" cy="50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ub_0.4"/>
          <p:cNvSpPr txBox="1"/>
          <p:nvPr/>
        </p:nvSpPr>
        <p:spPr>
          <a:xfrm>
            <a:off x="502920" y="27432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Card-not-present fraud
Account takeovers
Impossible travel</a:t>
            </a:r>
          </a:p>
        </p:txBody>
      </p:sp>
      <p:sp>
        <p:nvSpPr>
          <p:cNvPr id="10" name="uplan_0.4"/>
          <p:cNvSpPr/>
          <p:nvPr/>
        </p:nvSpPr>
        <p:spPr>
          <a:xfrm>
            <a:off x="502920" y="60350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3B82F6"/>
                </a:solidFill>
              </a:rPr>
              <a:t>Free / Pro / Adv</a:t>
            </a:r>
          </a:p>
        </p:txBody>
      </p:sp>
      <p:sp>
        <p:nvSpPr>
          <p:cNvPr id="11" name="u_3.5"/>
          <p:cNvSpPr/>
          <p:nvPr/>
        </p:nvSpPr>
        <p:spPr>
          <a:xfrm>
            <a:off x="3200400" y="1828800"/>
            <a:ext cx="2743200" cy="4754880"/>
          </a:xfrm>
          <a:prstGeom prst="rect">
            <a:avLst/>
          </a:prstGeom>
          <a:solidFill>
            <a:srgbClr val="111118"/>
          </a:solidFill>
          <a:ln w="9525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a_3.5"/>
          <p:cNvSpPr/>
          <p:nvPr/>
        </p:nvSpPr>
        <p:spPr>
          <a:xfrm>
            <a:off x="3200400" y="1828800"/>
            <a:ext cx="2743200" cy="54864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ul_3.5"/>
          <p:cNvSpPr txBox="1"/>
          <p:nvPr/>
        </p:nvSpPr>
        <p:spPr>
          <a:xfrm>
            <a:off x="333756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7"/>
                </a:solidFill>
              </a:rPr>
              <a:t>Fintech Startup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578608"/>
            <a:ext cx="2468880" cy="50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ub_3.5"/>
          <p:cNvSpPr txBox="1"/>
          <p:nvPr/>
        </p:nvSpPr>
        <p:spPr>
          <a:xfrm>
            <a:off x="3337560" y="27432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Add ML fraud detection
with zero infra cost
Free plan to start</a:t>
            </a:r>
          </a:p>
        </p:txBody>
      </p:sp>
      <p:sp>
        <p:nvSpPr>
          <p:cNvPr id="16" name="uplan_3.5"/>
          <p:cNvSpPr/>
          <p:nvPr/>
        </p:nvSpPr>
        <p:spPr>
          <a:xfrm>
            <a:off x="3337560" y="60350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0FF87"/>
                </a:solidFill>
              </a:rPr>
              <a:t>Pro / Adv</a:t>
            </a:r>
          </a:p>
        </p:txBody>
      </p:sp>
      <p:sp>
        <p:nvSpPr>
          <p:cNvPr id="17" name="u_6.6"/>
          <p:cNvSpPr/>
          <p:nvPr/>
        </p:nvSpPr>
        <p:spPr>
          <a:xfrm>
            <a:off x="6035040" y="1828800"/>
            <a:ext cx="2743200" cy="4754880"/>
          </a:xfrm>
          <a:prstGeom prst="rect">
            <a:avLst/>
          </a:prstGeom>
          <a:solidFill>
            <a:srgbClr val="111118"/>
          </a:solidFill>
          <a:ln w="9525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a_6.6"/>
          <p:cNvSpPr/>
          <p:nvPr/>
        </p:nvSpPr>
        <p:spPr>
          <a:xfrm>
            <a:off x="6035040" y="1828800"/>
            <a:ext cx="27432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ul_6.6"/>
          <p:cNvSpPr txBox="1"/>
          <p:nvPr/>
        </p:nvSpPr>
        <p:spPr>
          <a:xfrm>
            <a:off x="617220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Insurance Company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578608"/>
            <a:ext cx="2468880" cy="50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b_6.6"/>
          <p:cNvSpPr txBox="1"/>
          <p:nvPr/>
        </p:nvSpPr>
        <p:spPr>
          <a:xfrm>
            <a:off x="6172200" y="27432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Claim fraud via spending
pattern change detection
Batch + real-time</a:t>
            </a:r>
          </a:p>
        </p:txBody>
      </p:sp>
      <p:sp>
        <p:nvSpPr>
          <p:cNvPr id="22" name="uplan_6.6"/>
          <p:cNvSpPr/>
          <p:nvPr/>
        </p:nvSpPr>
        <p:spPr>
          <a:xfrm>
            <a:off x="6172200" y="60350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8B5CF6"/>
                </a:solidFill>
              </a:rPr>
              <a:t>Pro / Adv</a:t>
            </a:r>
          </a:p>
        </p:txBody>
      </p:sp>
      <p:sp>
        <p:nvSpPr>
          <p:cNvPr id="23" name="u_9.7"/>
          <p:cNvSpPr/>
          <p:nvPr/>
        </p:nvSpPr>
        <p:spPr>
          <a:xfrm>
            <a:off x="8869680" y="1828800"/>
            <a:ext cx="2743200" cy="4754880"/>
          </a:xfrm>
          <a:prstGeom prst="rect">
            <a:avLst/>
          </a:prstGeom>
          <a:solidFill>
            <a:srgbClr val="111118"/>
          </a:solidFill>
          <a:ln w="9525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ua_9.7"/>
          <p:cNvSpPr/>
          <p:nvPr/>
        </p:nvSpPr>
        <p:spPr>
          <a:xfrm>
            <a:off x="8869680" y="182880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l_9.7"/>
          <p:cNvSpPr txBox="1"/>
          <p:nvPr/>
        </p:nvSpPr>
        <p:spPr>
          <a:xfrm>
            <a:off x="900684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Payment Processor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2578608"/>
            <a:ext cx="2468880" cy="50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ub_9.7"/>
          <p:cNvSpPr txBox="1"/>
          <p:nvPr/>
        </p:nvSpPr>
        <p:spPr>
          <a:xfrm>
            <a:off x="9006840" y="274320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Screen before settlement
&lt;100ms per transaction
Webhook + Kafka feed</a:t>
            </a:r>
          </a:p>
        </p:txBody>
      </p:sp>
      <p:sp>
        <p:nvSpPr>
          <p:cNvPr id="28" name="uplan_9.7"/>
          <p:cNvSpPr/>
          <p:nvPr/>
        </p:nvSpPr>
        <p:spPr>
          <a:xfrm>
            <a:off x="9006840" y="60350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59E0B"/>
                </a:solidFill>
              </a:rPr>
              <a:t>All Plans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_03"/>
          <p:cNvSpPr/>
          <p:nvPr/>
        </p:nvSpPr>
        <p:spPr>
          <a:xfrm>
            <a:off x="457200" y="292608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8B5CF6"/>
                </a:solidFill>
              </a:rPr>
              <a:t>03 / TECH STACK</a:t>
            </a:r>
          </a:p>
        </p:txBody>
      </p:sp>
      <p:sp>
        <p:nvSpPr>
          <p:cNvPr id="3" name="hdr_03"/>
          <p:cNvSpPr txBox="1"/>
          <p:nvPr/>
        </p:nvSpPr>
        <p:spPr>
          <a:xfrm>
            <a:off x="457200" y="713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Components Used to Build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926080" cy="127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ub_03"/>
          <p:cNvSpPr txBox="1"/>
          <p:nvPr/>
        </p:nvSpPr>
        <p:spPr>
          <a:xfrm>
            <a:off x="457200" y="15727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Every layer maps to a real directory in the repository</a:t>
            </a:r>
          </a:p>
        </p:txBody>
      </p:sp>
      <p:sp>
        <p:nvSpPr>
          <p:cNvPr id="6" name="row_0"/>
          <p:cNvSpPr/>
          <p:nvPr/>
        </p:nvSpPr>
        <p:spPr>
          <a:xfrm>
            <a:off x="457200" y="1874519"/>
            <a:ext cx="11247120" cy="731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ripe_0"/>
          <p:cNvSpPr/>
          <p:nvPr/>
        </p:nvSpPr>
        <p:spPr>
          <a:xfrm>
            <a:off x="457200" y="1874519"/>
            <a:ext cx="54864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yer_0"/>
          <p:cNvSpPr/>
          <p:nvPr/>
        </p:nvSpPr>
        <p:spPr>
          <a:xfrm>
            <a:off x="594360" y="2066543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FRONTEND</a:t>
            </a:r>
          </a:p>
        </p:txBody>
      </p:sp>
      <p:sp>
        <p:nvSpPr>
          <p:cNvPr id="9" name="comp_0"/>
          <p:cNvSpPr txBox="1"/>
          <p:nvPr/>
        </p:nvSpPr>
        <p:spPr>
          <a:xfrm>
            <a:off x="2240280" y="1947672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Next.js 16 · TypeScript · Tailwind 4 · Zustand · Framer Motion · Recharts · shadcn/ui</a:t>
            </a:r>
          </a:p>
        </p:txBody>
      </p:sp>
      <p:sp>
        <p:nvSpPr>
          <p:cNvPr id="10" name="path_0"/>
          <p:cNvSpPr txBox="1"/>
          <p:nvPr/>
        </p:nvSpPr>
        <p:spPr>
          <a:xfrm>
            <a:off x="2240280" y="2331720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frontend/app/  ·  frontend/components/  ·  frontend/.env.local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24327"/>
            <a:ext cx="11247120" cy="5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_1"/>
          <p:cNvSpPr/>
          <p:nvPr/>
        </p:nvSpPr>
        <p:spPr>
          <a:xfrm>
            <a:off x="457200" y="2679191"/>
            <a:ext cx="11247120" cy="731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ripe_1"/>
          <p:cNvSpPr/>
          <p:nvPr/>
        </p:nvSpPr>
        <p:spPr>
          <a:xfrm>
            <a:off x="457200" y="2679191"/>
            <a:ext cx="54864" cy="731520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yer_1"/>
          <p:cNvSpPr/>
          <p:nvPr/>
        </p:nvSpPr>
        <p:spPr>
          <a:xfrm>
            <a:off x="594360" y="2871215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BACKEND</a:t>
            </a:r>
          </a:p>
        </p:txBody>
      </p:sp>
      <p:sp>
        <p:nvSpPr>
          <p:cNvPr id="15" name="comp_1"/>
          <p:cNvSpPr txBox="1"/>
          <p:nvPr/>
        </p:nvSpPr>
        <p:spPr>
          <a:xfrm>
            <a:off x="2240280" y="2752344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(Python 3.12) · SQLAlchemy 2.0 async · Pydantic v2 · python-jose JWT · passlib bcrypt</a:t>
            </a:r>
          </a:p>
        </p:txBody>
      </p:sp>
      <p:sp>
        <p:nvSpPr>
          <p:cNvPr id="16" name="path_1"/>
          <p:cNvSpPr txBox="1"/>
          <p:nvPr/>
        </p:nvSpPr>
        <p:spPr>
          <a:xfrm>
            <a:off x="2240280" y="3136391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backend/app/api/v1/  ·  backend/app/services/  ·  backend/app/config.py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28999"/>
            <a:ext cx="11247120" cy="5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_2"/>
          <p:cNvSpPr/>
          <p:nvPr/>
        </p:nvSpPr>
        <p:spPr>
          <a:xfrm>
            <a:off x="457200" y="3483863"/>
            <a:ext cx="11247120" cy="731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ripe_2"/>
          <p:cNvSpPr/>
          <p:nvPr/>
        </p:nvSpPr>
        <p:spPr>
          <a:xfrm>
            <a:off x="457200" y="3483863"/>
            <a:ext cx="5486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layer_2"/>
          <p:cNvSpPr/>
          <p:nvPr/>
        </p:nvSpPr>
        <p:spPr>
          <a:xfrm>
            <a:off x="594360" y="3675887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ML ENGINE</a:t>
            </a:r>
          </a:p>
        </p:txBody>
      </p:sp>
      <p:sp>
        <p:nvSpPr>
          <p:cNvPr id="21" name="comp_2"/>
          <p:cNvSpPr txBox="1"/>
          <p:nvPr/>
        </p:nvSpPr>
        <p:spPr>
          <a:xfrm>
            <a:off x="2240280" y="3557015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Isolation Forest · XGBoost · Random Forest · LightGBM · SHAP explainability · ONNX runtime</a:t>
            </a:r>
          </a:p>
        </p:txBody>
      </p:sp>
      <p:sp>
        <p:nvSpPr>
          <p:cNvPr id="22" name="path_2"/>
          <p:cNvSpPr txBox="1"/>
          <p:nvPr/>
        </p:nvSpPr>
        <p:spPr>
          <a:xfrm>
            <a:off x="2240280" y="3941063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backend/app/ml/  ·  backend/app/ml/models/  ·  backend/app/ml/pipeline.py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33672"/>
            <a:ext cx="11247120" cy="5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w_3"/>
          <p:cNvSpPr/>
          <p:nvPr/>
        </p:nvSpPr>
        <p:spPr>
          <a:xfrm>
            <a:off x="457200" y="4288536"/>
            <a:ext cx="11247120" cy="731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tripe_3"/>
          <p:cNvSpPr/>
          <p:nvPr/>
        </p:nvSpPr>
        <p:spPr>
          <a:xfrm>
            <a:off x="457200" y="4288536"/>
            <a:ext cx="54864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yer_3"/>
          <p:cNvSpPr/>
          <p:nvPr/>
        </p:nvSpPr>
        <p:spPr>
          <a:xfrm>
            <a:off x="594360" y="4480559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DATABASE</a:t>
            </a:r>
          </a:p>
        </p:txBody>
      </p:sp>
      <p:sp>
        <p:nvSpPr>
          <p:cNvPr id="27" name="comp_3"/>
          <p:cNvSpPr txBox="1"/>
          <p:nvPr/>
        </p:nvSpPr>
        <p:spPr>
          <a:xfrm>
            <a:off x="2240280" y="4361688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Supabase (PostgreSQL) primary  ·  SQLite for local dev  ·  Redis for cache &amp; sessions</a:t>
            </a:r>
          </a:p>
        </p:txBody>
      </p:sp>
      <p:sp>
        <p:nvSpPr>
          <p:cNvPr id="28" name="path_3"/>
          <p:cNvSpPr txBox="1"/>
          <p:nvPr/>
        </p:nvSpPr>
        <p:spPr>
          <a:xfrm>
            <a:off x="2240280" y="4745736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backend/app/db/session.py  ·  backend/app/db/migrations/versions/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38344"/>
            <a:ext cx="11247120" cy="5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w_4"/>
          <p:cNvSpPr/>
          <p:nvPr/>
        </p:nvSpPr>
        <p:spPr>
          <a:xfrm>
            <a:off x="457200" y="5093208"/>
            <a:ext cx="11247120" cy="731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tripe_4"/>
          <p:cNvSpPr/>
          <p:nvPr/>
        </p:nvSpPr>
        <p:spPr>
          <a:xfrm>
            <a:off x="457200" y="5093208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layer_4"/>
          <p:cNvSpPr/>
          <p:nvPr/>
        </p:nvSpPr>
        <p:spPr>
          <a:xfrm>
            <a:off x="594360" y="528523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STREAMING</a:t>
            </a:r>
          </a:p>
        </p:txBody>
      </p:sp>
      <p:sp>
        <p:nvSpPr>
          <p:cNvPr id="33" name="comp_4"/>
          <p:cNvSpPr txBox="1"/>
          <p:nvPr/>
        </p:nvSpPr>
        <p:spPr>
          <a:xfrm>
            <a:off x="2240280" y="516636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WebSocket manager (Socket.IO-style)  ·  Celery task queue  ·  Redis broker</a:t>
            </a:r>
          </a:p>
        </p:txBody>
      </p:sp>
      <p:sp>
        <p:nvSpPr>
          <p:cNvPr id="34" name="path_4"/>
          <p:cNvSpPr txBox="1"/>
          <p:nvPr/>
        </p:nvSpPr>
        <p:spPr>
          <a:xfrm>
            <a:off x="2240280" y="5550408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backend/app/streaming/websocket_manager.py  ·  backend/app/services/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43016"/>
            <a:ext cx="11247120" cy="5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w_5"/>
          <p:cNvSpPr/>
          <p:nvPr/>
        </p:nvSpPr>
        <p:spPr>
          <a:xfrm>
            <a:off x="457200" y="5897880"/>
            <a:ext cx="11247120" cy="73152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stripe_5"/>
          <p:cNvSpPr/>
          <p:nvPr/>
        </p:nvSpPr>
        <p:spPr>
          <a:xfrm>
            <a:off x="457200" y="589788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layer_5"/>
          <p:cNvSpPr/>
          <p:nvPr/>
        </p:nvSpPr>
        <p:spPr>
          <a:xfrm>
            <a:off x="594360" y="60899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INFRA / CI</a:t>
            </a:r>
          </a:p>
        </p:txBody>
      </p:sp>
      <p:sp>
        <p:nvSpPr>
          <p:cNvPr id="39" name="comp_5"/>
          <p:cNvSpPr txBox="1"/>
          <p:nvPr/>
        </p:nvSpPr>
        <p:spPr>
          <a:xfrm>
            <a:off x="2240280" y="5971032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AWS ECS Fargate · ECR · RDS · ElastiCache · ALB  ·  GitHub Actions CI/CD · Docker</a:t>
            </a:r>
          </a:p>
        </p:txBody>
      </p:sp>
      <p:sp>
        <p:nvSpPr>
          <p:cNvPr id="40" name="path_5"/>
          <p:cNvSpPr txBox="1"/>
          <p:nvPr/>
        </p:nvSpPr>
        <p:spPr>
          <a:xfrm>
            <a:off x="2240280" y="6355080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.github/workflows/ci.yml  ·  .github/workflows/cd-staging.yml  ·  infrastructure/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_04a"/>
          <p:cNvSpPr/>
          <p:nvPr/>
        </p:nvSpPr>
        <p:spPr>
          <a:xfrm>
            <a:off x="457200" y="292608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06B6D4"/>
                </a:solidFill>
              </a:rPr>
              <a:t>04a / DATABASES</a:t>
            </a:r>
          </a:p>
        </p:txBody>
      </p:sp>
      <p:sp>
        <p:nvSpPr>
          <p:cNvPr id="3" name="hdr_04a"/>
          <p:cNvSpPr txBox="1"/>
          <p:nvPr/>
        </p:nvSpPr>
        <p:spPr>
          <a:xfrm>
            <a:off x="457200" y="713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Databases You Can 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926080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ub_04a"/>
          <p:cNvSpPr txBox="1"/>
          <p:nvPr/>
        </p:nvSpPr>
        <p:spPr>
          <a:xfrm>
            <a:off x="457200" y="15727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Set  DATABASE_URL  in  backend/.env  — SQLAlchemy handles the rest  |  No code change needed to switch DB</a:t>
            </a:r>
          </a:p>
        </p:txBody>
      </p:sp>
      <p:sp>
        <p:nvSpPr>
          <p:cNvPr id="6" name="dbhdr"/>
          <p:cNvSpPr/>
          <p:nvPr/>
        </p:nvSpPr>
        <p:spPr>
          <a:xfrm>
            <a:off x="365760" y="1828800"/>
            <a:ext cx="11430000" cy="32918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hdr_0.56"/>
          <p:cNvSpPr txBox="1"/>
          <p:nvPr/>
        </p:nvSpPr>
        <p:spPr>
          <a:xfrm>
            <a:off x="512064" y="187451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CONNECTOR</a:t>
            </a:r>
          </a:p>
        </p:txBody>
      </p:sp>
      <p:sp>
        <p:nvSpPr>
          <p:cNvPr id="8" name="dhdr_2.22"/>
          <p:cNvSpPr txBox="1"/>
          <p:nvPr/>
        </p:nvSpPr>
        <p:spPr>
          <a:xfrm>
            <a:off x="2029968" y="187451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DATABASE</a:t>
            </a:r>
          </a:p>
        </p:txBody>
      </p:sp>
      <p:sp>
        <p:nvSpPr>
          <p:cNvPr id="9" name="dhdr_4.9"/>
          <p:cNvSpPr txBox="1"/>
          <p:nvPr/>
        </p:nvSpPr>
        <p:spPr>
          <a:xfrm>
            <a:off x="4480560" y="1874519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CONNECTION STRING / ENV KEY</a:t>
            </a:r>
          </a:p>
        </p:txBody>
      </p:sp>
      <p:sp>
        <p:nvSpPr>
          <p:cNvPr id="10" name="drow_0"/>
          <p:cNvSpPr/>
          <p:nvPr/>
        </p:nvSpPr>
        <p:spPr>
          <a:xfrm>
            <a:off x="365760" y="2194560"/>
            <a:ext cx="11430000" cy="658368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stripe_0"/>
          <p:cNvSpPr/>
          <p:nvPr/>
        </p:nvSpPr>
        <p:spPr>
          <a:xfrm>
            <a:off x="365760" y="2194560"/>
            <a:ext cx="64008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logo_0"/>
          <p:cNvSpPr/>
          <p:nvPr/>
        </p:nvSpPr>
        <p:spPr>
          <a:xfrm>
            <a:off x="512064" y="23591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Supabase</a:t>
            </a:r>
          </a:p>
        </p:txBody>
      </p:sp>
      <p:sp>
        <p:nvSpPr>
          <p:cNvPr id="13" name="dname_0"/>
          <p:cNvSpPr txBox="1"/>
          <p:nvPr/>
        </p:nvSpPr>
        <p:spPr>
          <a:xfrm>
            <a:off x="2029968" y="22677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Supabase (PostgreSQL)</a:t>
            </a:r>
          </a:p>
        </p:txBody>
      </p:sp>
      <p:sp>
        <p:nvSpPr>
          <p:cNvPr id="14" name="denv_bg_0"/>
          <p:cNvSpPr/>
          <p:nvPr/>
        </p:nvSpPr>
        <p:spPr>
          <a:xfrm>
            <a:off x="2029968" y="2569464"/>
            <a:ext cx="2286000" cy="21945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env_0"/>
          <p:cNvSpPr txBox="1"/>
          <p:nvPr/>
        </p:nvSpPr>
        <p:spPr>
          <a:xfrm>
            <a:off x="2103120" y="2587752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SUPABASE_URL + KEYS</a:t>
            </a:r>
          </a:p>
        </p:txBody>
      </p:sp>
      <p:sp>
        <p:nvSpPr>
          <p:cNvPr id="16" name="dex_bg_0"/>
          <p:cNvSpPr/>
          <p:nvPr/>
        </p:nvSpPr>
        <p:spPr>
          <a:xfrm>
            <a:off x="4480560" y="2249424"/>
            <a:ext cx="7315200" cy="530352"/>
          </a:xfrm>
          <a:prstGeom prst="rect">
            <a:avLst/>
          </a:prstGeom>
          <a:solidFill>
            <a:srgbClr val="080814"/>
          </a:solidFill>
          <a:ln w="635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ex_0"/>
          <p:cNvSpPr txBox="1"/>
          <p:nvPr/>
        </p:nvSpPr>
        <p:spPr>
          <a:xfrm>
            <a:off x="4617720" y="2313432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SUPABASE_URL=https://xyz.supabase.co  |  SUPABASE_ANON_KEY=eyJ...  |  SUPABASE_SERVICE_KEY=eyJ...</a:t>
            </a:r>
          </a:p>
        </p:txBody>
      </p:sp>
      <p:sp>
        <p:nvSpPr>
          <p:cNvPr id="18" name="drow_1"/>
          <p:cNvSpPr/>
          <p:nvPr/>
        </p:nvSpPr>
        <p:spPr>
          <a:xfrm>
            <a:off x="365760" y="2871215"/>
            <a:ext cx="11430000" cy="658368"/>
          </a:xfrm>
          <a:prstGeom prst="rect">
            <a:avLst/>
          </a:prstGeom>
          <a:solidFill>
            <a:srgbClr val="0F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stripe_1"/>
          <p:cNvSpPr/>
          <p:nvPr/>
        </p:nvSpPr>
        <p:spPr>
          <a:xfrm>
            <a:off x="365760" y="2871215"/>
            <a:ext cx="64008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logo_1"/>
          <p:cNvSpPr/>
          <p:nvPr/>
        </p:nvSpPr>
        <p:spPr>
          <a:xfrm>
            <a:off x="512064" y="30358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PostgreSQL</a:t>
            </a:r>
          </a:p>
        </p:txBody>
      </p:sp>
      <p:sp>
        <p:nvSpPr>
          <p:cNvPr id="21" name="dname_1"/>
          <p:cNvSpPr txBox="1"/>
          <p:nvPr/>
        </p:nvSpPr>
        <p:spPr>
          <a:xfrm>
            <a:off x="2029968" y="29443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PostgreSQL (Generic)</a:t>
            </a:r>
          </a:p>
        </p:txBody>
      </p:sp>
      <p:sp>
        <p:nvSpPr>
          <p:cNvPr id="22" name="denv_bg_1"/>
          <p:cNvSpPr/>
          <p:nvPr/>
        </p:nvSpPr>
        <p:spPr>
          <a:xfrm>
            <a:off x="2029968" y="3246120"/>
            <a:ext cx="2286000" cy="21945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env_1"/>
          <p:cNvSpPr txBox="1"/>
          <p:nvPr/>
        </p:nvSpPr>
        <p:spPr>
          <a:xfrm>
            <a:off x="2103120" y="326440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DATABASE_URL</a:t>
            </a:r>
          </a:p>
        </p:txBody>
      </p:sp>
      <p:sp>
        <p:nvSpPr>
          <p:cNvPr id="24" name="dex_bg_1"/>
          <p:cNvSpPr/>
          <p:nvPr/>
        </p:nvSpPr>
        <p:spPr>
          <a:xfrm>
            <a:off x="4480560" y="2926079"/>
            <a:ext cx="7315200" cy="530352"/>
          </a:xfrm>
          <a:prstGeom prst="rect">
            <a:avLst/>
          </a:prstGeom>
          <a:solidFill>
            <a:srgbClr val="080814"/>
          </a:solidFill>
          <a:ln w="635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ex_1"/>
          <p:cNvSpPr txBox="1"/>
          <p:nvPr/>
        </p:nvSpPr>
        <p:spPr>
          <a:xfrm>
            <a:off x="4617720" y="2990087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DATABASE_URL=postgresql+asyncpg://user:password@host:5432/finshield_db</a:t>
            </a:r>
          </a:p>
        </p:txBody>
      </p:sp>
      <p:sp>
        <p:nvSpPr>
          <p:cNvPr id="26" name="drow_2"/>
          <p:cNvSpPr/>
          <p:nvPr/>
        </p:nvSpPr>
        <p:spPr>
          <a:xfrm>
            <a:off x="365760" y="3547872"/>
            <a:ext cx="11430000" cy="658368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stripe_2"/>
          <p:cNvSpPr/>
          <p:nvPr/>
        </p:nvSpPr>
        <p:spPr>
          <a:xfrm>
            <a:off x="365760" y="3547872"/>
            <a:ext cx="64008" cy="658368"/>
          </a:xfrm>
          <a:prstGeom prst="rect">
            <a:avLst/>
          </a:prstGeom>
          <a:solidFill>
            <a:srgbClr val="F29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logo_2"/>
          <p:cNvSpPr/>
          <p:nvPr/>
        </p:nvSpPr>
        <p:spPr>
          <a:xfrm>
            <a:off x="512064" y="3712463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29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MySQL</a:t>
            </a:r>
          </a:p>
        </p:txBody>
      </p:sp>
      <p:sp>
        <p:nvSpPr>
          <p:cNvPr id="29" name="dname_2"/>
          <p:cNvSpPr txBox="1"/>
          <p:nvPr/>
        </p:nvSpPr>
        <p:spPr>
          <a:xfrm>
            <a:off x="2029968" y="36210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MySQL / MariaDB</a:t>
            </a:r>
          </a:p>
        </p:txBody>
      </p:sp>
      <p:sp>
        <p:nvSpPr>
          <p:cNvPr id="30" name="denv_bg_2"/>
          <p:cNvSpPr/>
          <p:nvPr/>
        </p:nvSpPr>
        <p:spPr>
          <a:xfrm>
            <a:off x="2029968" y="3922776"/>
            <a:ext cx="2286000" cy="21945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env_2"/>
          <p:cNvSpPr txBox="1"/>
          <p:nvPr/>
        </p:nvSpPr>
        <p:spPr>
          <a:xfrm>
            <a:off x="2103120" y="3941063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DATABASE_URL</a:t>
            </a:r>
          </a:p>
        </p:txBody>
      </p:sp>
      <p:sp>
        <p:nvSpPr>
          <p:cNvPr id="32" name="dex_bg_2"/>
          <p:cNvSpPr/>
          <p:nvPr/>
        </p:nvSpPr>
        <p:spPr>
          <a:xfrm>
            <a:off x="4480560" y="3602736"/>
            <a:ext cx="7315200" cy="530352"/>
          </a:xfrm>
          <a:prstGeom prst="rect">
            <a:avLst/>
          </a:prstGeom>
          <a:solidFill>
            <a:srgbClr val="080814"/>
          </a:solidFill>
          <a:ln w="635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ex_2"/>
          <p:cNvSpPr txBox="1"/>
          <p:nvPr/>
        </p:nvSpPr>
        <p:spPr>
          <a:xfrm>
            <a:off x="4617720" y="3666744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DATABASE_URL=mysql+aiomysql://user:password@host:3306/finshield_db</a:t>
            </a:r>
          </a:p>
        </p:txBody>
      </p:sp>
      <p:sp>
        <p:nvSpPr>
          <p:cNvPr id="34" name="drow_3"/>
          <p:cNvSpPr/>
          <p:nvPr/>
        </p:nvSpPr>
        <p:spPr>
          <a:xfrm>
            <a:off x="365760" y="4224527"/>
            <a:ext cx="11430000" cy="658368"/>
          </a:xfrm>
          <a:prstGeom prst="rect">
            <a:avLst/>
          </a:prstGeom>
          <a:solidFill>
            <a:srgbClr val="0F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stripe_3"/>
          <p:cNvSpPr/>
          <p:nvPr/>
        </p:nvSpPr>
        <p:spPr>
          <a:xfrm>
            <a:off x="365760" y="4224527"/>
            <a:ext cx="64008" cy="658368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logo_3"/>
          <p:cNvSpPr/>
          <p:nvPr/>
        </p:nvSpPr>
        <p:spPr>
          <a:xfrm>
            <a:off x="512064" y="4389119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MongoDB</a:t>
            </a:r>
          </a:p>
        </p:txBody>
      </p:sp>
      <p:sp>
        <p:nvSpPr>
          <p:cNvPr id="37" name="dname_3"/>
          <p:cNvSpPr txBox="1"/>
          <p:nvPr/>
        </p:nvSpPr>
        <p:spPr>
          <a:xfrm>
            <a:off x="2029968" y="429767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MongoDB (transactions)</a:t>
            </a:r>
          </a:p>
        </p:txBody>
      </p:sp>
      <p:sp>
        <p:nvSpPr>
          <p:cNvPr id="38" name="denv_bg_3"/>
          <p:cNvSpPr/>
          <p:nvPr/>
        </p:nvSpPr>
        <p:spPr>
          <a:xfrm>
            <a:off x="2029968" y="4599431"/>
            <a:ext cx="2286000" cy="21945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env_3"/>
          <p:cNvSpPr txBox="1"/>
          <p:nvPr/>
        </p:nvSpPr>
        <p:spPr>
          <a:xfrm>
            <a:off x="2103120" y="4617719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DATABASE_URL</a:t>
            </a:r>
          </a:p>
        </p:txBody>
      </p:sp>
      <p:sp>
        <p:nvSpPr>
          <p:cNvPr id="40" name="dex_bg_3"/>
          <p:cNvSpPr/>
          <p:nvPr/>
        </p:nvSpPr>
        <p:spPr>
          <a:xfrm>
            <a:off x="4480560" y="4279391"/>
            <a:ext cx="7315200" cy="530352"/>
          </a:xfrm>
          <a:prstGeom prst="rect">
            <a:avLst/>
          </a:prstGeom>
          <a:solidFill>
            <a:srgbClr val="080814"/>
          </a:solidFill>
          <a:ln w="635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ex_3"/>
          <p:cNvSpPr txBox="1"/>
          <p:nvPr/>
        </p:nvSpPr>
        <p:spPr>
          <a:xfrm>
            <a:off x="4617720" y="4343399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DATABASE_URL=mongodb+srv://user:password@cluster.mongodb.net/finshield</a:t>
            </a:r>
          </a:p>
        </p:txBody>
      </p:sp>
      <p:sp>
        <p:nvSpPr>
          <p:cNvPr id="42" name="drow_4"/>
          <p:cNvSpPr/>
          <p:nvPr/>
        </p:nvSpPr>
        <p:spPr>
          <a:xfrm>
            <a:off x="365760" y="4901183"/>
            <a:ext cx="11430000" cy="658368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dstripe_4"/>
          <p:cNvSpPr/>
          <p:nvPr/>
        </p:nvSpPr>
        <p:spPr>
          <a:xfrm>
            <a:off x="365760" y="4901183"/>
            <a:ext cx="64008" cy="658368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logo_4"/>
          <p:cNvSpPr/>
          <p:nvPr/>
        </p:nvSpPr>
        <p:spPr>
          <a:xfrm>
            <a:off x="512064" y="5065775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MS SQL</a:t>
            </a:r>
          </a:p>
        </p:txBody>
      </p:sp>
      <p:sp>
        <p:nvSpPr>
          <p:cNvPr id="45" name="dname_4"/>
          <p:cNvSpPr txBox="1"/>
          <p:nvPr/>
        </p:nvSpPr>
        <p:spPr>
          <a:xfrm>
            <a:off x="2029968" y="49743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MS SQL Server</a:t>
            </a:r>
          </a:p>
        </p:txBody>
      </p:sp>
      <p:sp>
        <p:nvSpPr>
          <p:cNvPr id="46" name="denv_bg_4"/>
          <p:cNvSpPr/>
          <p:nvPr/>
        </p:nvSpPr>
        <p:spPr>
          <a:xfrm>
            <a:off x="2029968" y="5276088"/>
            <a:ext cx="2286000" cy="21945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denv_4"/>
          <p:cNvSpPr txBox="1"/>
          <p:nvPr/>
        </p:nvSpPr>
        <p:spPr>
          <a:xfrm>
            <a:off x="2103120" y="5294375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DATABASE_URL</a:t>
            </a:r>
          </a:p>
        </p:txBody>
      </p:sp>
      <p:sp>
        <p:nvSpPr>
          <p:cNvPr id="48" name="dex_bg_4"/>
          <p:cNvSpPr/>
          <p:nvPr/>
        </p:nvSpPr>
        <p:spPr>
          <a:xfrm>
            <a:off x="4480560" y="4956047"/>
            <a:ext cx="7315200" cy="530352"/>
          </a:xfrm>
          <a:prstGeom prst="rect">
            <a:avLst/>
          </a:prstGeom>
          <a:solidFill>
            <a:srgbClr val="080814"/>
          </a:solidFill>
          <a:ln w="635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dex_4"/>
          <p:cNvSpPr txBox="1"/>
          <p:nvPr/>
        </p:nvSpPr>
        <p:spPr>
          <a:xfrm>
            <a:off x="4617720" y="5020055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DATABASE_URL=mssql+aioodbc://user:password@host/finshield?driver=ODBC+Driver+18</a:t>
            </a:r>
          </a:p>
        </p:txBody>
      </p:sp>
      <p:sp>
        <p:nvSpPr>
          <p:cNvPr id="50" name="drow_5"/>
          <p:cNvSpPr/>
          <p:nvPr/>
        </p:nvSpPr>
        <p:spPr>
          <a:xfrm>
            <a:off x="365760" y="5577840"/>
            <a:ext cx="11430000" cy="658368"/>
          </a:xfrm>
          <a:prstGeom prst="rect">
            <a:avLst/>
          </a:prstGeom>
          <a:solidFill>
            <a:srgbClr val="0F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dstripe_5"/>
          <p:cNvSpPr/>
          <p:nvPr/>
        </p:nvSpPr>
        <p:spPr>
          <a:xfrm>
            <a:off x="365760" y="5577840"/>
            <a:ext cx="64008" cy="65836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dlogo_5"/>
          <p:cNvSpPr/>
          <p:nvPr/>
        </p:nvSpPr>
        <p:spPr>
          <a:xfrm>
            <a:off x="512064" y="5742431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SQLite</a:t>
            </a:r>
          </a:p>
        </p:txBody>
      </p:sp>
      <p:sp>
        <p:nvSpPr>
          <p:cNvPr id="53" name="dname_5"/>
          <p:cNvSpPr txBox="1"/>
          <p:nvPr/>
        </p:nvSpPr>
        <p:spPr>
          <a:xfrm>
            <a:off x="2029968" y="5650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SQLite (local dev)</a:t>
            </a:r>
          </a:p>
        </p:txBody>
      </p:sp>
      <p:sp>
        <p:nvSpPr>
          <p:cNvPr id="54" name="denv_bg_5"/>
          <p:cNvSpPr/>
          <p:nvPr/>
        </p:nvSpPr>
        <p:spPr>
          <a:xfrm>
            <a:off x="2029968" y="5952744"/>
            <a:ext cx="2286000" cy="21945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denv_5"/>
          <p:cNvSpPr txBox="1"/>
          <p:nvPr/>
        </p:nvSpPr>
        <p:spPr>
          <a:xfrm>
            <a:off x="2103120" y="5971031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DATABASE_URL</a:t>
            </a:r>
          </a:p>
        </p:txBody>
      </p:sp>
      <p:sp>
        <p:nvSpPr>
          <p:cNvPr id="56" name="dex_bg_5"/>
          <p:cNvSpPr/>
          <p:nvPr/>
        </p:nvSpPr>
        <p:spPr>
          <a:xfrm>
            <a:off x="4480560" y="5632703"/>
            <a:ext cx="7315200" cy="530352"/>
          </a:xfrm>
          <a:prstGeom prst="rect">
            <a:avLst/>
          </a:prstGeom>
          <a:solidFill>
            <a:srgbClr val="080814"/>
          </a:solidFill>
          <a:ln w="635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dex_5"/>
          <p:cNvSpPr txBox="1"/>
          <p:nvPr/>
        </p:nvSpPr>
        <p:spPr>
          <a:xfrm>
            <a:off x="4617720" y="5696712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DATABASE_URL=sqlite+aiosqlite:///./finshield_dev.db  (default — zero config)</a:t>
            </a:r>
          </a:p>
        </p:txBody>
      </p:sp>
      <p:sp>
        <p:nvSpPr>
          <p:cNvPr id="58" name="drow_6"/>
          <p:cNvSpPr/>
          <p:nvPr/>
        </p:nvSpPr>
        <p:spPr>
          <a:xfrm>
            <a:off x="365760" y="6254496"/>
            <a:ext cx="11430000" cy="658368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dstripe_6"/>
          <p:cNvSpPr/>
          <p:nvPr/>
        </p:nvSpPr>
        <p:spPr>
          <a:xfrm>
            <a:off x="365760" y="6254496"/>
            <a:ext cx="64008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dlogo_6"/>
          <p:cNvSpPr/>
          <p:nvPr/>
        </p:nvSpPr>
        <p:spPr>
          <a:xfrm>
            <a:off x="512064" y="641908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0A0A0F"/>
                </a:solidFill>
              </a:rPr>
              <a:t>Redis</a:t>
            </a:r>
          </a:p>
        </p:txBody>
      </p:sp>
      <p:sp>
        <p:nvSpPr>
          <p:cNvPr id="61" name="dname_6"/>
          <p:cNvSpPr txBox="1"/>
          <p:nvPr/>
        </p:nvSpPr>
        <p:spPr>
          <a:xfrm>
            <a:off x="2029968" y="63276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Redis (cache + WS)</a:t>
            </a:r>
          </a:p>
        </p:txBody>
      </p:sp>
      <p:sp>
        <p:nvSpPr>
          <p:cNvPr id="62" name="denv_bg_6"/>
          <p:cNvSpPr/>
          <p:nvPr/>
        </p:nvSpPr>
        <p:spPr>
          <a:xfrm>
            <a:off x="2029968" y="6629400"/>
            <a:ext cx="2286000" cy="21945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denv_6"/>
          <p:cNvSpPr txBox="1"/>
          <p:nvPr/>
        </p:nvSpPr>
        <p:spPr>
          <a:xfrm>
            <a:off x="2103120" y="664768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REDIS_URL</a:t>
            </a:r>
          </a:p>
        </p:txBody>
      </p:sp>
      <p:sp>
        <p:nvSpPr>
          <p:cNvPr id="64" name="dex_bg_6"/>
          <p:cNvSpPr/>
          <p:nvPr/>
        </p:nvSpPr>
        <p:spPr>
          <a:xfrm>
            <a:off x="4480560" y="6309359"/>
            <a:ext cx="7315200" cy="530352"/>
          </a:xfrm>
          <a:prstGeom prst="rect">
            <a:avLst/>
          </a:prstGeom>
          <a:solidFill>
            <a:srgbClr val="080814"/>
          </a:solidFill>
          <a:ln w="635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dex_6"/>
          <p:cNvSpPr txBox="1"/>
          <p:nvPr/>
        </p:nvSpPr>
        <p:spPr>
          <a:xfrm>
            <a:off x="4617720" y="6373368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REDIS_URL=redis://localhost:6379/0  |  or  rediss://user:pass@host:6380/0  (TLS)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_04b"/>
          <p:cNvSpPr/>
          <p:nvPr/>
        </p:nvSpPr>
        <p:spPr>
          <a:xfrm>
            <a:off x="457200" y="292608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EF4444"/>
                </a:solidFill>
              </a:rPr>
              <a:t>04b / ALERT SERVICES</a:t>
            </a:r>
          </a:p>
        </p:txBody>
      </p:sp>
      <p:sp>
        <p:nvSpPr>
          <p:cNvPr id="3" name="hdr_04b"/>
          <p:cNvSpPr txBox="1"/>
          <p:nvPr/>
        </p:nvSpPr>
        <p:spPr>
          <a:xfrm>
            <a:off x="457200" y="713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Alert &amp; Notification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926080" cy="12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ub_04b"/>
          <p:cNvSpPr txBox="1"/>
          <p:nvPr/>
        </p:nvSpPr>
        <p:spPr>
          <a:xfrm>
            <a:off x="457200" y="15727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All channels are optional — platform degrades gracefully with no keys set  |  backend/app/services/notification_service.py</a:t>
            </a:r>
          </a:p>
        </p:txBody>
      </p:sp>
      <p:sp>
        <p:nvSpPr>
          <p:cNvPr id="6" name="ahdr_bg"/>
          <p:cNvSpPr/>
          <p:nvPr/>
        </p:nvSpPr>
        <p:spPr>
          <a:xfrm>
            <a:off x="365760" y="1828800"/>
            <a:ext cx="11430000" cy="32918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hdr_0.58"/>
          <p:cNvSpPr txBox="1"/>
          <p:nvPr/>
        </p:nvSpPr>
        <p:spPr>
          <a:xfrm>
            <a:off x="530352" y="1874519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SERVICE / CHANNEL</a:t>
            </a:r>
          </a:p>
        </p:txBody>
      </p:sp>
      <p:sp>
        <p:nvSpPr>
          <p:cNvPr id="8" name="ahdr_3.75"/>
          <p:cNvSpPr txBox="1"/>
          <p:nvPr/>
        </p:nvSpPr>
        <p:spPr>
          <a:xfrm>
            <a:off x="3429000" y="1874519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ENV VARIABLES  (backend/.env)</a:t>
            </a:r>
          </a:p>
        </p:txBody>
      </p:sp>
      <p:sp>
        <p:nvSpPr>
          <p:cNvPr id="9" name="ahdr_8.1"/>
          <p:cNvSpPr txBox="1"/>
          <p:nvPr/>
        </p:nvSpPr>
        <p:spPr>
          <a:xfrm>
            <a:off x="7406640" y="1874519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WHEN IT FIRES</a:t>
            </a:r>
          </a:p>
        </p:txBody>
      </p:sp>
      <p:sp>
        <p:nvSpPr>
          <p:cNvPr id="10" name="arow_0"/>
          <p:cNvSpPr/>
          <p:nvPr/>
        </p:nvSpPr>
        <p:spPr>
          <a:xfrm>
            <a:off x="365760" y="2212848"/>
            <a:ext cx="11430000" cy="694944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stripe_0"/>
          <p:cNvSpPr/>
          <p:nvPr/>
        </p:nvSpPr>
        <p:spPr>
          <a:xfrm>
            <a:off x="365760" y="2212848"/>
            <a:ext cx="64008" cy="694944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icon_0"/>
          <p:cNvSpPr txBox="1"/>
          <p:nvPr/>
        </p:nvSpPr>
        <p:spPr>
          <a:xfrm>
            <a:off x="530352" y="2377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3" name="asvc_0"/>
          <p:cNvSpPr txBox="1"/>
          <p:nvPr/>
        </p:nvSpPr>
        <p:spPr>
          <a:xfrm>
            <a:off x="1097280" y="22677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Resend.com</a:t>
            </a:r>
          </a:p>
        </p:txBody>
      </p:sp>
      <p:sp>
        <p:nvSpPr>
          <p:cNvPr id="14" name="achan_0"/>
          <p:cNvSpPr txBox="1"/>
          <p:nvPr/>
        </p:nvSpPr>
        <p:spPr>
          <a:xfrm>
            <a:off x="1097280" y="26151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FF87"/>
                </a:solidFill>
              </a:rPr>
              <a:t>Email  (Primary)</a:t>
            </a:r>
          </a:p>
        </p:txBody>
      </p:sp>
      <p:sp>
        <p:nvSpPr>
          <p:cNvPr id="15" name="aenv_bg_0"/>
          <p:cNvSpPr/>
          <p:nvPr/>
        </p:nvSpPr>
        <p:spPr>
          <a:xfrm>
            <a:off x="3429000" y="2286000"/>
            <a:ext cx="3840480" cy="530352"/>
          </a:xfrm>
          <a:prstGeom prst="rect">
            <a:avLst/>
          </a:prstGeom>
          <a:solidFill>
            <a:srgbClr val="061206"/>
          </a:solidFill>
          <a:ln w="6350">
            <a:solidFill>
              <a:srgbClr val="0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env_0"/>
          <p:cNvSpPr txBox="1"/>
          <p:nvPr/>
        </p:nvSpPr>
        <p:spPr>
          <a:xfrm>
            <a:off x="3566160" y="23317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RESEND_API_KEY=re_xxxx
EMAIL_FROM=noreply@finshield.ai</a:t>
            </a:r>
          </a:p>
        </p:txBody>
      </p:sp>
      <p:sp>
        <p:nvSpPr>
          <p:cNvPr id="17" name="atrig_0"/>
          <p:cNvSpPr txBox="1"/>
          <p:nvPr/>
        </p:nvSpPr>
        <p:spPr>
          <a:xfrm>
            <a:off x="7406640" y="230428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fraud_score &gt;= 0.30 · Any FLAG / ALERT / BLOCK
Sent to customer + ALERT_COMPANY_EMAIL
3,000 free emails/month</a:t>
            </a:r>
          </a:p>
        </p:txBody>
      </p:sp>
      <p:sp>
        <p:nvSpPr>
          <p:cNvPr id="18" name="arow_1"/>
          <p:cNvSpPr/>
          <p:nvPr/>
        </p:nvSpPr>
        <p:spPr>
          <a:xfrm>
            <a:off x="365760" y="2971800"/>
            <a:ext cx="11430000" cy="694944"/>
          </a:xfrm>
          <a:prstGeom prst="rect">
            <a:avLst/>
          </a:prstGeom>
          <a:solidFill>
            <a:srgbClr val="0F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stripe_1"/>
          <p:cNvSpPr/>
          <p:nvPr/>
        </p:nvSpPr>
        <p:spPr>
          <a:xfrm>
            <a:off x="365760" y="2971800"/>
            <a:ext cx="64008" cy="694944"/>
          </a:xfrm>
          <a:prstGeom prst="rect">
            <a:avLst/>
          </a:prstGeom>
          <a:solidFill>
            <a:srgbClr val="0CC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icon_1"/>
          <p:cNvSpPr txBox="1"/>
          <p:nvPr/>
        </p:nvSpPr>
        <p:spPr>
          <a:xfrm>
            <a:off x="530352" y="3136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21" name="asvc_1"/>
          <p:cNvSpPr txBox="1"/>
          <p:nvPr/>
        </p:nvSpPr>
        <p:spPr>
          <a:xfrm>
            <a:off x="1097280" y="30266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Brevo</a:t>
            </a:r>
          </a:p>
        </p:txBody>
      </p:sp>
      <p:sp>
        <p:nvSpPr>
          <p:cNvPr id="22" name="achan_1"/>
          <p:cNvSpPr txBox="1"/>
          <p:nvPr/>
        </p:nvSpPr>
        <p:spPr>
          <a:xfrm>
            <a:off x="1097280" y="33741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CCA8A"/>
                </a:solidFill>
              </a:rPr>
              <a:t>Email  (Fallback)</a:t>
            </a:r>
          </a:p>
        </p:txBody>
      </p:sp>
      <p:sp>
        <p:nvSpPr>
          <p:cNvPr id="23" name="aenv_bg_1"/>
          <p:cNvSpPr/>
          <p:nvPr/>
        </p:nvSpPr>
        <p:spPr>
          <a:xfrm>
            <a:off x="3429000" y="3044952"/>
            <a:ext cx="3840480" cy="530352"/>
          </a:xfrm>
          <a:prstGeom prst="rect">
            <a:avLst/>
          </a:prstGeom>
          <a:solidFill>
            <a:srgbClr val="061206"/>
          </a:solidFill>
          <a:ln w="6350">
            <a:solidFill>
              <a:srgbClr val="0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env_1"/>
          <p:cNvSpPr txBox="1"/>
          <p:nvPr/>
        </p:nvSpPr>
        <p:spPr>
          <a:xfrm>
            <a:off x="3566160" y="309067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BREVO_API_KEY=xkeysib-xxxx</a:t>
            </a:r>
          </a:p>
        </p:txBody>
      </p:sp>
      <p:sp>
        <p:nvSpPr>
          <p:cNvPr id="25" name="atrig_1"/>
          <p:cNvSpPr txBox="1"/>
          <p:nvPr/>
        </p:nvSpPr>
        <p:spPr>
          <a:xfrm>
            <a:off x="7406640" y="30632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Auto-used when RESEND_API_KEY is empty
Same triggers as Resend
Free tier: 300 emails/day</a:t>
            </a:r>
          </a:p>
        </p:txBody>
      </p:sp>
      <p:sp>
        <p:nvSpPr>
          <p:cNvPr id="26" name="arow_2"/>
          <p:cNvSpPr/>
          <p:nvPr/>
        </p:nvSpPr>
        <p:spPr>
          <a:xfrm>
            <a:off x="365760" y="3730752"/>
            <a:ext cx="11430000" cy="694944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stripe_2"/>
          <p:cNvSpPr/>
          <p:nvPr/>
        </p:nvSpPr>
        <p:spPr>
          <a:xfrm>
            <a:off x="365760" y="3730752"/>
            <a:ext cx="64008" cy="6949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icon_2"/>
          <p:cNvSpPr txBox="1"/>
          <p:nvPr/>
        </p:nvSpPr>
        <p:spPr>
          <a:xfrm>
            <a:off x="530352" y="38953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9" name="asvc_2"/>
          <p:cNvSpPr txBox="1"/>
          <p:nvPr/>
        </p:nvSpPr>
        <p:spPr>
          <a:xfrm>
            <a:off x="1097280" y="378561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Twilio SMS</a:t>
            </a:r>
          </a:p>
        </p:txBody>
      </p:sp>
      <p:sp>
        <p:nvSpPr>
          <p:cNvPr id="30" name="achan_2"/>
          <p:cNvSpPr txBox="1"/>
          <p:nvPr/>
        </p:nvSpPr>
        <p:spPr>
          <a:xfrm>
            <a:off x="1097280" y="41330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F4444"/>
                </a:solidFill>
              </a:rPr>
              <a:t>SMS  (Pro+ plan only)</a:t>
            </a:r>
          </a:p>
        </p:txBody>
      </p:sp>
      <p:sp>
        <p:nvSpPr>
          <p:cNvPr id="31" name="aenv_bg_2"/>
          <p:cNvSpPr/>
          <p:nvPr/>
        </p:nvSpPr>
        <p:spPr>
          <a:xfrm>
            <a:off x="3429000" y="3803904"/>
            <a:ext cx="3840480" cy="530352"/>
          </a:xfrm>
          <a:prstGeom prst="rect">
            <a:avLst/>
          </a:prstGeom>
          <a:solidFill>
            <a:srgbClr val="061206"/>
          </a:solidFill>
          <a:ln w="6350">
            <a:solidFill>
              <a:srgbClr val="0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env_2"/>
          <p:cNvSpPr txBox="1"/>
          <p:nvPr/>
        </p:nvSpPr>
        <p:spPr>
          <a:xfrm>
            <a:off x="3566160" y="384962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TWILIO_ACCOUNT_SID=ACxxxx
TWILIO_AUTH_TOKEN=xxxx
TWILIO_FROM_NUMBER=+1XXXXXXXXXX</a:t>
            </a:r>
          </a:p>
        </p:txBody>
      </p:sp>
      <p:sp>
        <p:nvSpPr>
          <p:cNvPr id="33" name="atrig_2"/>
          <p:cNvSpPr txBox="1"/>
          <p:nvPr/>
        </p:nvSpPr>
        <p:spPr>
          <a:xfrm>
            <a:off x="7406640" y="3822191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fraud_score &gt;= 0.60 · HIGH or CRITICAL only
Customer phone  +  analyst on-call
~Rs. 0.10 per SMS India</a:t>
            </a:r>
          </a:p>
        </p:txBody>
      </p:sp>
      <p:sp>
        <p:nvSpPr>
          <p:cNvPr id="34" name="arow_3"/>
          <p:cNvSpPr/>
          <p:nvPr/>
        </p:nvSpPr>
        <p:spPr>
          <a:xfrm>
            <a:off x="365760" y="4489704"/>
            <a:ext cx="11430000" cy="694944"/>
          </a:xfrm>
          <a:prstGeom prst="rect">
            <a:avLst/>
          </a:prstGeom>
          <a:solidFill>
            <a:srgbClr val="0F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astripe_3"/>
          <p:cNvSpPr/>
          <p:nvPr/>
        </p:nvSpPr>
        <p:spPr>
          <a:xfrm>
            <a:off x="365760" y="4489704"/>
            <a:ext cx="64008" cy="6949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aicon_3"/>
          <p:cNvSpPr txBox="1"/>
          <p:nvPr/>
        </p:nvSpPr>
        <p:spPr>
          <a:xfrm>
            <a:off x="530352" y="4654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37" name="asvc_3"/>
          <p:cNvSpPr txBox="1"/>
          <p:nvPr/>
        </p:nvSpPr>
        <p:spPr>
          <a:xfrm>
            <a:off x="1097280" y="45445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In-App WebSocket</a:t>
            </a:r>
          </a:p>
        </p:txBody>
      </p:sp>
      <p:sp>
        <p:nvSpPr>
          <p:cNvPr id="38" name="achan_3"/>
          <p:cNvSpPr txBox="1"/>
          <p:nvPr/>
        </p:nvSpPr>
        <p:spPr>
          <a:xfrm>
            <a:off x="1097280" y="48920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B82F6"/>
                </a:solidFill>
              </a:rPr>
              <a:t>Real-time push  (all plans)</a:t>
            </a:r>
          </a:p>
        </p:txBody>
      </p:sp>
      <p:sp>
        <p:nvSpPr>
          <p:cNvPr id="39" name="aenv_bg_3"/>
          <p:cNvSpPr/>
          <p:nvPr/>
        </p:nvSpPr>
        <p:spPr>
          <a:xfrm>
            <a:off x="3429000" y="4562856"/>
            <a:ext cx="3840480" cy="530352"/>
          </a:xfrm>
          <a:prstGeom prst="rect">
            <a:avLst/>
          </a:prstGeom>
          <a:solidFill>
            <a:srgbClr val="061206"/>
          </a:solidFill>
          <a:ln w="6350">
            <a:solidFill>
              <a:srgbClr val="0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env_3"/>
          <p:cNvSpPr txBox="1"/>
          <p:nvPr/>
        </p:nvSpPr>
        <p:spPr>
          <a:xfrm>
            <a:off x="3566160" y="4608576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No key needed — always active
(built into WebSocket manager)</a:t>
            </a:r>
          </a:p>
        </p:txBody>
      </p:sp>
      <p:sp>
        <p:nvSpPr>
          <p:cNvPr id="41" name="atrig_3"/>
          <p:cNvSpPr txBox="1"/>
          <p:nvPr/>
        </p:nvSpPr>
        <p:spPr>
          <a:xfrm>
            <a:off x="7406640" y="458114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Every scored transaction broadcast live
ws://host/ws/{tenant_id}
Dashboard alert queue auto-updates</a:t>
            </a:r>
          </a:p>
        </p:txBody>
      </p:sp>
      <p:sp>
        <p:nvSpPr>
          <p:cNvPr id="42" name="arow_4"/>
          <p:cNvSpPr/>
          <p:nvPr/>
        </p:nvSpPr>
        <p:spPr>
          <a:xfrm>
            <a:off x="365760" y="5248656"/>
            <a:ext cx="11430000" cy="694944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astripe_4"/>
          <p:cNvSpPr/>
          <p:nvPr/>
        </p:nvSpPr>
        <p:spPr>
          <a:xfrm>
            <a:off x="365760" y="5248656"/>
            <a:ext cx="64008" cy="694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aicon_4"/>
          <p:cNvSpPr txBox="1"/>
          <p:nvPr/>
        </p:nvSpPr>
        <p:spPr>
          <a:xfrm>
            <a:off x="530352" y="54132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🪝</a:t>
            </a:r>
          </a:p>
        </p:txBody>
      </p:sp>
      <p:sp>
        <p:nvSpPr>
          <p:cNvPr id="45" name="asvc_4"/>
          <p:cNvSpPr txBox="1"/>
          <p:nvPr/>
        </p:nvSpPr>
        <p:spPr>
          <a:xfrm>
            <a:off x="1097280" y="53035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Outbound Webhook</a:t>
            </a:r>
          </a:p>
        </p:txBody>
      </p:sp>
      <p:sp>
        <p:nvSpPr>
          <p:cNvPr id="46" name="achan_4"/>
          <p:cNvSpPr txBox="1"/>
          <p:nvPr/>
        </p:nvSpPr>
        <p:spPr>
          <a:xfrm>
            <a:off x="1097280" y="56509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HTTP POST  (Pro+)</a:t>
            </a:r>
          </a:p>
        </p:txBody>
      </p:sp>
      <p:sp>
        <p:nvSpPr>
          <p:cNvPr id="47" name="aenv_bg_4"/>
          <p:cNvSpPr/>
          <p:nvPr/>
        </p:nvSpPr>
        <p:spPr>
          <a:xfrm>
            <a:off x="3429000" y="5321808"/>
            <a:ext cx="3840480" cy="530352"/>
          </a:xfrm>
          <a:prstGeom prst="rect">
            <a:avLst/>
          </a:prstGeom>
          <a:solidFill>
            <a:srgbClr val="061206"/>
          </a:solidFill>
          <a:ln w="6350">
            <a:solidFill>
              <a:srgbClr val="0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aenv_4"/>
          <p:cNvSpPr txBox="1"/>
          <p:nvPr/>
        </p:nvSpPr>
        <p:spPr>
          <a:xfrm>
            <a:off x="3566160" y="536752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Configured via  /api/v1/settings
Stored encrypted in tenant_credentials</a:t>
            </a:r>
          </a:p>
        </p:txBody>
      </p:sp>
      <p:sp>
        <p:nvSpPr>
          <p:cNvPr id="49" name="atrig_4"/>
          <p:cNvSpPr txBox="1"/>
          <p:nvPr/>
        </p:nvSpPr>
        <p:spPr>
          <a:xfrm>
            <a:off x="7406640" y="5340096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POST to your URL on fraud_alert_created
HMAC-SHA256 signed payload
Retry with exponential backoff on failure</a:t>
            </a:r>
          </a:p>
        </p:txBody>
      </p:sp>
      <p:sp>
        <p:nvSpPr>
          <p:cNvPr id="50" name="arow_5"/>
          <p:cNvSpPr/>
          <p:nvPr/>
        </p:nvSpPr>
        <p:spPr>
          <a:xfrm>
            <a:off x="365760" y="6007607"/>
            <a:ext cx="11430000" cy="694944"/>
          </a:xfrm>
          <a:prstGeom prst="rect">
            <a:avLst/>
          </a:prstGeom>
          <a:solidFill>
            <a:srgbClr val="0F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astripe_5"/>
          <p:cNvSpPr/>
          <p:nvPr/>
        </p:nvSpPr>
        <p:spPr>
          <a:xfrm>
            <a:off x="365760" y="6007607"/>
            <a:ext cx="64008" cy="6949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aicon_5"/>
          <p:cNvSpPr txBox="1"/>
          <p:nvPr/>
        </p:nvSpPr>
        <p:spPr>
          <a:xfrm>
            <a:off x="530352" y="617219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53" name="asvc_5"/>
          <p:cNvSpPr txBox="1"/>
          <p:nvPr/>
        </p:nvSpPr>
        <p:spPr>
          <a:xfrm>
            <a:off x="1097280" y="606247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Slack Webhook</a:t>
            </a:r>
          </a:p>
        </p:txBody>
      </p:sp>
      <p:sp>
        <p:nvSpPr>
          <p:cNvPr id="54" name="achan_5"/>
          <p:cNvSpPr txBox="1"/>
          <p:nvPr/>
        </p:nvSpPr>
        <p:spPr>
          <a:xfrm>
            <a:off x="1097280" y="64099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5CF6"/>
                </a:solidFill>
              </a:rPr>
              <a:t>Slack  (Pro+)</a:t>
            </a:r>
          </a:p>
        </p:txBody>
      </p:sp>
      <p:sp>
        <p:nvSpPr>
          <p:cNvPr id="55" name="aenv_bg_5"/>
          <p:cNvSpPr/>
          <p:nvPr/>
        </p:nvSpPr>
        <p:spPr>
          <a:xfrm>
            <a:off x="3429000" y="6080759"/>
            <a:ext cx="3840480" cy="530352"/>
          </a:xfrm>
          <a:prstGeom prst="rect">
            <a:avLst/>
          </a:prstGeom>
          <a:solidFill>
            <a:srgbClr val="061206"/>
          </a:solidFill>
          <a:ln w="6350">
            <a:solidFill>
              <a:srgbClr val="00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aenv_5"/>
          <p:cNvSpPr txBox="1"/>
          <p:nvPr/>
        </p:nvSpPr>
        <p:spPr>
          <a:xfrm>
            <a:off x="3566160" y="6126479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F87"/>
                </a:solidFill>
              </a:rPr>
              <a:t>Configured via  /api/v1/settings
Slack Incoming Webhook URL</a:t>
            </a:r>
          </a:p>
        </p:txBody>
      </p:sp>
      <p:sp>
        <p:nvSpPr>
          <p:cNvPr id="57" name="atrig_5"/>
          <p:cNvSpPr txBox="1"/>
          <p:nvPr/>
        </p:nvSpPr>
        <p:spPr>
          <a:xfrm>
            <a:off x="7406640" y="6099047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Critical fraud alerts to analyst channel
Rich message with score + SHAP top features
Free via Slack Apps</a:t>
            </a:r>
          </a:p>
        </p:txBody>
      </p:sp>
      <p:sp>
        <p:nvSpPr>
          <p:cNvPr id="58" name="degrade_bg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degrade_note"/>
          <p:cNvSpPr txBox="1"/>
          <p:nvPr/>
        </p:nvSpPr>
        <p:spPr>
          <a:xfrm>
            <a:off x="548640" y="6565392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FF87"/>
                </a:solidFill>
              </a:rPr>
              <a:t>No keys configured?  Platform falls back to in-app WebSocket notifications only — zero downtime, zero config required.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_05"/>
          <p:cNvSpPr/>
          <p:nvPr/>
        </p:nvSpPr>
        <p:spPr>
          <a:xfrm>
            <a:off x="457200" y="292608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8B5CF6"/>
                </a:solidFill>
              </a:rPr>
              <a:t>05 / ML ENGINE</a:t>
            </a:r>
          </a:p>
        </p:txBody>
      </p:sp>
      <p:sp>
        <p:nvSpPr>
          <p:cNvPr id="3" name="hdr_05"/>
          <p:cNvSpPr txBox="1"/>
          <p:nvPr/>
        </p:nvSpPr>
        <p:spPr>
          <a:xfrm>
            <a:off x="457200" y="713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Fraud Detection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926080" cy="127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ub_05"/>
          <p:cNvSpPr txBox="1"/>
          <p:nvPr/>
        </p:nvSpPr>
        <p:spPr>
          <a:xfrm>
            <a:off x="457200" y="15727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backend/app/ml/  ·  models trained on 10,000 sample transactions (3% fraud rate)</a:t>
            </a:r>
          </a:p>
        </p:txBody>
      </p:sp>
      <p:sp>
        <p:nvSpPr>
          <p:cNvPr id="6" name="pipe_0"/>
          <p:cNvSpPr/>
          <p:nvPr/>
        </p:nvSpPr>
        <p:spPr>
          <a:xfrm>
            <a:off x="365760" y="1874519"/>
            <a:ext cx="1828800" cy="2194560"/>
          </a:xfrm>
          <a:prstGeom prst="rect">
            <a:avLst/>
          </a:prstGeom>
          <a:solidFill>
            <a:srgbClr val="11111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bar_0"/>
          <p:cNvSpPr/>
          <p:nvPr/>
        </p:nvSpPr>
        <p:spPr>
          <a:xfrm>
            <a:off x="365760" y="1874519"/>
            <a:ext cx="1828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step_0"/>
          <p:cNvSpPr txBox="1"/>
          <p:nvPr/>
        </p:nvSpPr>
        <p:spPr>
          <a:xfrm>
            <a:off x="502920" y="1965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1
Data In</a:t>
            </a:r>
          </a:p>
        </p:txBody>
      </p:sp>
      <p:sp>
        <p:nvSpPr>
          <p:cNvPr id="9" name="pdesc_0"/>
          <p:cNvSpPr txBox="1"/>
          <p:nvPr/>
        </p:nvSpPr>
        <p:spPr>
          <a:xfrm>
            <a:off x="502920" y="26060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20+ connectors
Kafka · CSV · Supabase
Webhook</a:t>
            </a:r>
          </a:p>
        </p:txBody>
      </p:sp>
      <p:sp>
        <p:nvSpPr>
          <p:cNvPr id="10" name="arr_0"/>
          <p:cNvSpPr txBox="1"/>
          <p:nvPr/>
        </p:nvSpPr>
        <p:spPr>
          <a:xfrm>
            <a:off x="2157984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</a:rPr>
              <a:t>-&gt;</a:t>
            </a:r>
          </a:p>
        </p:txBody>
      </p:sp>
      <p:sp>
        <p:nvSpPr>
          <p:cNvPr id="11" name="pipe_1"/>
          <p:cNvSpPr/>
          <p:nvPr/>
        </p:nvSpPr>
        <p:spPr>
          <a:xfrm>
            <a:off x="2340864" y="1874519"/>
            <a:ext cx="1828800" cy="2194560"/>
          </a:xfrm>
          <a:prstGeom prst="rect">
            <a:avLst/>
          </a:prstGeom>
          <a:solidFill>
            <a:srgbClr val="11111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bar_1"/>
          <p:cNvSpPr/>
          <p:nvPr/>
        </p:nvSpPr>
        <p:spPr>
          <a:xfrm>
            <a:off x="2340864" y="1874519"/>
            <a:ext cx="18288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step_1"/>
          <p:cNvSpPr txBox="1"/>
          <p:nvPr/>
        </p:nvSpPr>
        <p:spPr>
          <a:xfrm>
            <a:off x="2478024" y="1965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2
Features</a:t>
            </a:r>
          </a:p>
        </p:txBody>
      </p:sp>
      <p:sp>
        <p:nvSpPr>
          <p:cNvPr id="14" name="pdesc_1"/>
          <p:cNvSpPr txBox="1"/>
          <p:nvPr/>
        </p:nvSpPr>
        <p:spPr>
          <a:xfrm>
            <a:off x="2478024" y="26060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200+ engineered
Velocity · Geo · Device
Behavioural · Amount</a:t>
            </a:r>
          </a:p>
        </p:txBody>
      </p:sp>
      <p:sp>
        <p:nvSpPr>
          <p:cNvPr id="15" name="arr_1"/>
          <p:cNvSpPr txBox="1"/>
          <p:nvPr/>
        </p:nvSpPr>
        <p:spPr>
          <a:xfrm>
            <a:off x="4133087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</a:rPr>
              <a:t>-&gt;</a:t>
            </a:r>
          </a:p>
        </p:txBody>
      </p:sp>
      <p:sp>
        <p:nvSpPr>
          <p:cNvPr id="16" name="pipe_2"/>
          <p:cNvSpPr/>
          <p:nvPr/>
        </p:nvSpPr>
        <p:spPr>
          <a:xfrm>
            <a:off x="4315968" y="1874519"/>
            <a:ext cx="1828800" cy="2194560"/>
          </a:xfrm>
          <a:prstGeom prst="rect">
            <a:avLst/>
          </a:prstGeom>
          <a:solidFill>
            <a:srgbClr val="11111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bar_2"/>
          <p:cNvSpPr/>
          <p:nvPr/>
        </p:nvSpPr>
        <p:spPr>
          <a:xfrm>
            <a:off x="4315968" y="1874519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step_2"/>
          <p:cNvSpPr txBox="1"/>
          <p:nvPr/>
        </p:nvSpPr>
        <p:spPr>
          <a:xfrm>
            <a:off x="4453128" y="1965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3
Unsupervised</a:t>
            </a:r>
          </a:p>
        </p:txBody>
      </p:sp>
      <p:sp>
        <p:nvSpPr>
          <p:cNvPr id="19" name="pdesc_2"/>
          <p:cNvSpPr txBox="1"/>
          <p:nvPr/>
        </p:nvSpPr>
        <p:spPr>
          <a:xfrm>
            <a:off x="4453128" y="26060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Isolation Forest
DBSCAN clustering
Anomaly score</a:t>
            </a:r>
          </a:p>
        </p:txBody>
      </p:sp>
      <p:sp>
        <p:nvSpPr>
          <p:cNvPr id="20" name="arr_2"/>
          <p:cNvSpPr txBox="1"/>
          <p:nvPr/>
        </p:nvSpPr>
        <p:spPr>
          <a:xfrm>
            <a:off x="6108192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</a:rPr>
              <a:t>-&gt;</a:t>
            </a:r>
          </a:p>
        </p:txBody>
      </p:sp>
      <p:sp>
        <p:nvSpPr>
          <p:cNvPr id="21" name="pipe_3"/>
          <p:cNvSpPr/>
          <p:nvPr/>
        </p:nvSpPr>
        <p:spPr>
          <a:xfrm>
            <a:off x="6291072" y="1874519"/>
            <a:ext cx="1828800" cy="2194560"/>
          </a:xfrm>
          <a:prstGeom prst="rect">
            <a:avLst/>
          </a:prstGeom>
          <a:solidFill>
            <a:srgbClr val="111118"/>
          </a:solidFill>
          <a:ln w="15240">
            <a:solidFill>
              <a:srgbClr val="00F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bar_3"/>
          <p:cNvSpPr/>
          <p:nvPr/>
        </p:nvSpPr>
        <p:spPr>
          <a:xfrm>
            <a:off x="6291072" y="1874519"/>
            <a:ext cx="1828800" cy="45720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step_3"/>
          <p:cNvSpPr txBox="1"/>
          <p:nvPr/>
        </p:nvSpPr>
        <p:spPr>
          <a:xfrm>
            <a:off x="6428232" y="1965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7"/>
                </a:solidFill>
              </a:rPr>
              <a:t>4
Supervised</a:t>
            </a:r>
          </a:p>
        </p:txBody>
      </p:sp>
      <p:sp>
        <p:nvSpPr>
          <p:cNvPr id="24" name="pdesc_3"/>
          <p:cNvSpPr txBox="1"/>
          <p:nvPr/>
        </p:nvSpPr>
        <p:spPr>
          <a:xfrm>
            <a:off x="6428232" y="26060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XGBoost (primary)
Random Forest
LightGBM</a:t>
            </a:r>
          </a:p>
        </p:txBody>
      </p:sp>
      <p:sp>
        <p:nvSpPr>
          <p:cNvPr id="25" name="arr_3"/>
          <p:cNvSpPr txBox="1"/>
          <p:nvPr/>
        </p:nvSpPr>
        <p:spPr>
          <a:xfrm>
            <a:off x="8083296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</a:rPr>
              <a:t>-&gt;</a:t>
            </a:r>
          </a:p>
        </p:txBody>
      </p:sp>
      <p:sp>
        <p:nvSpPr>
          <p:cNvPr id="26" name="pipe_4"/>
          <p:cNvSpPr/>
          <p:nvPr/>
        </p:nvSpPr>
        <p:spPr>
          <a:xfrm>
            <a:off x="8266176" y="1874519"/>
            <a:ext cx="1828800" cy="2194560"/>
          </a:xfrm>
          <a:prstGeom prst="rect">
            <a:avLst/>
          </a:prstGeom>
          <a:solidFill>
            <a:srgbClr val="11111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bar_4"/>
          <p:cNvSpPr/>
          <p:nvPr/>
        </p:nvSpPr>
        <p:spPr>
          <a:xfrm>
            <a:off x="8266176" y="1874519"/>
            <a:ext cx="1828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step_4"/>
          <p:cNvSpPr txBox="1"/>
          <p:nvPr/>
        </p:nvSpPr>
        <p:spPr>
          <a:xfrm>
            <a:off x="8403336" y="1965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
Ensemble</a:t>
            </a:r>
          </a:p>
        </p:txBody>
      </p:sp>
      <p:sp>
        <p:nvSpPr>
          <p:cNvPr id="29" name="pdesc_4"/>
          <p:cNvSpPr txBox="1"/>
          <p:nvPr/>
        </p:nvSpPr>
        <p:spPr>
          <a:xfrm>
            <a:off x="8403336" y="26060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Weighted combiner
Calibrated 0.0-1.0
SHAP explainability</a:t>
            </a:r>
          </a:p>
        </p:txBody>
      </p:sp>
      <p:sp>
        <p:nvSpPr>
          <p:cNvPr id="30" name="arr_4"/>
          <p:cNvSpPr txBox="1"/>
          <p:nvPr/>
        </p:nvSpPr>
        <p:spPr>
          <a:xfrm>
            <a:off x="10058400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</a:rPr>
              <a:t>-&gt;</a:t>
            </a:r>
          </a:p>
        </p:txBody>
      </p:sp>
      <p:sp>
        <p:nvSpPr>
          <p:cNvPr id="31" name="pipe_5"/>
          <p:cNvSpPr/>
          <p:nvPr/>
        </p:nvSpPr>
        <p:spPr>
          <a:xfrm>
            <a:off x="10241280" y="1874519"/>
            <a:ext cx="1828800" cy="2194560"/>
          </a:xfrm>
          <a:prstGeom prst="rect">
            <a:avLst/>
          </a:prstGeom>
          <a:solidFill>
            <a:srgbClr val="11111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bar_5"/>
          <p:cNvSpPr/>
          <p:nvPr/>
        </p:nvSpPr>
        <p:spPr>
          <a:xfrm>
            <a:off x="10241280" y="1874519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step_5"/>
          <p:cNvSpPr txBox="1"/>
          <p:nvPr/>
        </p:nvSpPr>
        <p:spPr>
          <a:xfrm>
            <a:off x="10378440" y="1965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6
Decision</a:t>
            </a:r>
          </a:p>
        </p:txBody>
      </p:sp>
      <p:sp>
        <p:nvSpPr>
          <p:cNvPr id="34" name="pdesc_5"/>
          <p:cNvSpPr txBox="1"/>
          <p:nvPr/>
        </p:nvSpPr>
        <p:spPr>
          <a:xfrm>
            <a:off x="10378440" y="26060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&lt;0.30 PASS
0.30-0.79 FLAG/ALERT
&gt;=0.80 BLOCK</a:t>
            </a:r>
          </a:p>
        </p:txBody>
      </p:sp>
      <p:sp>
        <p:nvSpPr>
          <p:cNvPr id="35" name="artifacts_hdr"/>
          <p:cNvSpPr txBox="1"/>
          <p:nvPr/>
        </p:nvSpPr>
        <p:spPr>
          <a:xfrm>
            <a:off x="457200" y="42519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Trained model artifacts  ( backend/app/ml/models/ 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17720"/>
            <a:ext cx="6400800" cy="5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rt_0_bg"/>
          <p:cNvSpPr/>
          <p:nvPr/>
        </p:nvSpPr>
        <p:spPr>
          <a:xfrm>
            <a:off x="457200" y="4681728"/>
            <a:ext cx="2926080" cy="347472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art_0"/>
          <p:cNvSpPr txBox="1"/>
          <p:nvPr/>
        </p:nvSpPr>
        <p:spPr>
          <a:xfrm>
            <a:off x="566928" y="4727448"/>
            <a:ext cx="2743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FF87"/>
                </a:solidFill>
              </a:rPr>
              <a:t>anomaly_detector_v1.pkl</a:t>
            </a:r>
          </a:p>
        </p:txBody>
      </p:sp>
      <p:sp>
        <p:nvSpPr>
          <p:cNvPr id="39" name="adesc_0"/>
          <p:cNvSpPr txBox="1"/>
          <p:nvPr/>
        </p:nvSpPr>
        <p:spPr>
          <a:xfrm>
            <a:off x="3520440" y="47274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Isolation Forest — unsupervised outlier detection</a:t>
            </a:r>
          </a:p>
        </p:txBody>
      </p:sp>
      <p:sp>
        <p:nvSpPr>
          <p:cNvPr id="40" name="art_1_bg"/>
          <p:cNvSpPr/>
          <p:nvPr/>
        </p:nvSpPr>
        <p:spPr>
          <a:xfrm>
            <a:off x="6126480" y="4681728"/>
            <a:ext cx="2926080" cy="347472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art_1"/>
          <p:cNvSpPr txBox="1"/>
          <p:nvPr/>
        </p:nvSpPr>
        <p:spPr>
          <a:xfrm>
            <a:off x="6236208" y="4727448"/>
            <a:ext cx="2743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FF87"/>
                </a:solidFill>
              </a:rPr>
              <a:t>fraud_classifier_v1.pkl</a:t>
            </a:r>
          </a:p>
        </p:txBody>
      </p:sp>
      <p:sp>
        <p:nvSpPr>
          <p:cNvPr id="42" name="adesc_1"/>
          <p:cNvSpPr txBox="1"/>
          <p:nvPr/>
        </p:nvSpPr>
        <p:spPr>
          <a:xfrm>
            <a:off x="9189720" y="47274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XGBoost primary classifier</a:t>
            </a:r>
          </a:p>
        </p:txBody>
      </p:sp>
      <p:sp>
        <p:nvSpPr>
          <p:cNvPr id="43" name="art_2_bg"/>
          <p:cNvSpPr/>
          <p:nvPr/>
        </p:nvSpPr>
        <p:spPr>
          <a:xfrm>
            <a:off x="457200" y="5321808"/>
            <a:ext cx="2926080" cy="347472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art_2"/>
          <p:cNvSpPr txBox="1"/>
          <p:nvPr/>
        </p:nvSpPr>
        <p:spPr>
          <a:xfrm>
            <a:off x="566928" y="5367528"/>
            <a:ext cx="2743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FF87"/>
                </a:solidFill>
              </a:rPr>
              <a:t>ensemble_scorer_v1.pkl</a:t>
            </a:r>
          </a:p>
        </p:txBody>
      </p:sp>
      <p:sp>
        <p:nvSpPr>
          <p:cNvPr id="45" name="adesc_2"/>
          <p:cNvSpPr txBox="1"/>
          <p:nvPr/>
        </p:nvSpPr>
        <p:spPr>
          <a:xfrm>
            <a:off x="3520440" y="5367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Weighted ensemble combiner</a:t>
            </a:r>
          </a:p>
        </p:txBody>
      </p:sp>
      <p:sp>
        <p:nvSpPr>
          <p:cNvPr id="46" name="art_3_bg"/>
          <p:cNvSpPr/>
          <p:nvPr/>
        </p:nvSpPr>
        <p:spPr>
          <a:xfrm>
            <a:off x="6126480" y="5321808"/>
            <a:ext cx="2926080" cy="347472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rt_3"/>
          <p:cNvSpPr txBox="1"/>
          <p:nvPr/>
        </p:nvSpPr>
        <p:spPr>
          <a:xfrm>
            <a:off x="6236208" y="5367528"/>
            <a:ext cx="2743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FF87"/>
                </a:solidFill>
              </a:rPr>
              <a:t>shap_explainer_v1.pkl</a:t>
            </a:r>
          </a:p>
        </p:txBody>
      </p:sp>
      <p:sp>
        <p:nvSpPr>
          <p:cNvPr id="48" name="adesc_3"/>
          <p:cNvSpPr txBox="1"/>
          <p:nvPr/>
        </p:nvSpPr>
        <p:spPr>
          <a:xfrm>
            <a:off x="9189720" y="5367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SHAP TreeExplainer for feature attribution</a:t>
            </a:r>
          </a:p>
        </p:txBody>
      </p:sp>
      <p:sp>
        <p:nvSpPr>
          <p:cNvPr id="49" name="art_4_bg"/>
          <p:cNvSpPr/>
          <p:nvPr/>
        </p:nvSpPr>
        <p:spPr>
          <a:xfrm>
            <a:off x="457200" y="5961888"/>
            <a:ext cx="2926080" cy="347472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art_4"/>
          <p:cNvSpPr txBox="1"/>
          <p:nvPr/>
        </p:nvSpPr>
        <p:spPr>
          <a:xfrm>
            <a:off x="566928" y="6007607"/>
            <a:ext cx="2743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FF87"/>
                </a:solidFill>
              </a:rPr>
              <a:t>feature_names_v1.json</a:t>
            </a:r>
          </a:p>
        </p:txBody>
      </p:sp>
      <p:sp>
        <p:nvSpPr>
          <p:cNvPr id="51" name="adesc_4"/>
          <p:cNvSpPr txBox="1"/>
          <p:nvPr/>
        </p:nvSpPr>
        <p:spPr>
          <a:xfrm>
            <a:off x="3520440" y="600760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Feature list for pipeline consistency</a:t>
            </a:r>
          </a:p>
        </p:txBody>
      </p:sp>
      <p:sp>
        <p:nvSpPr>
          <p:cNvPr id="52" name="art_5_bg"/>
          <p:cNvSpPr/>
          <p:nvPr/>
        </p:nvSpPr>
        <p:spPr>
          <a:xfrm>
            <a:off x="6126480" y="5961888"/>
            <a:ext cx="2926080" cy="347472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art_5"/>
          <p:cNvSpPr txBox="1"/>
          <p:nvPr/>
        </p:nvSpPr>
        <p:spPr>
          <a:xfrm>
            <a:off x="6236208" y="6007607"/>
            <a:ext cx="2743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FF87"/>
                </a:solidFill>
              </a:rPr>
              <a:t>evaluation_report.json</a:t>
            </a:r>
          </a:p>
        </p:txBody>
      </p:sp>
      <p:sp>
        <p:nvSpPr>
          <p:cNvPr id="54" name="adesc_5"/>
          <p:cNvSpPr txBox="1"/>
          <p:nvPr/>
        </p:nvSpPr>
        <p:spPr>
          <a:xfrm>
            <a:off x="9189720" y="600760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Precision · Recall · AUC-ROC metrics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_06"/>
          <p:cNvSpPr/>
          <p:nvPr/>
        </p:nvSpPr>
        <p:spPr>
          <a:xfrm>
            <a:off x="457200" y="292608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00FF87"/>
                </a:solidFill>
              </a:rPr>
              <a:t>06 / PROJECT VIEW</a:t>
            </a:r>
          </a:p>
        </p:txBody>
      </p:sp>
      <p:sp>
        <p:nvSpPr>
          <p:cNvPr id="3" name="hdr_06"/>
          <p:cNvSpPr txBox="1"/>
          <p:nvPr/>
        </p:nvSpPr>
        <p:spPr>
          <a:xfrm>
            <a:off x="457200" y="713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Directory Map &amp; Key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926080" cy="12700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ub_06"/>
          <p:cNvSpPr txBox="1"/>
          <p:nvPr/>
        </p:nvSpPr>
        <p:spPr>
          <a:xfrm>
            <a:off x="457200" y="15727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Monorepo  ·  backend/ (FastAPI)  ·  frontend/ (Next.js 16)  ·  infrastructure/ (AWS CDK)</a:t>
            </a:r>
          </a:p>
        </p:txBody>
      </p:sp>
      <p:sp>
        <p:nvSpPr>
          <p:cNvPr id="6" name="tree_bg"/>
          <p:cNvSpPr/>
          <p:nvPr/>
        </p:nvSpPr>
        <p:spPr>
          <a:xfrm>
            <a:off x="365760" y="1828800"/>
            <a:ext cx="5029200" cy="475488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ree_hdr"/>
          <p:cNvSpPr/>
          <p:nvPr/>
        </p:nvSpPr>
        <p:spPr>
          <a:xfrm>
            <a:off x="365760" y="1828800"/>
            <a:ext cx="5029200" cy="34747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"/>
          <p:cNvSpPr txBox="1"/>
          <p:nvPr/>
        </p:nvSpPr>
        <p:spPr>
          <a:xfrm>
            <a:off x="502920" y="18745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7"/>
                </a:solidFill>
              </a:rPr>
              <a:t>  REPOSITORY STRUCTURE</a:t>
            </a:r>
          </a:p>
        </p:txBody>
      </p:sp>
      <p:sp>
        <p:nvSpPr>
          <p:cNvPr id="9" name="tree_0"/>
          <p:cNvSpPr txBox="1"/>
          <p:nvPr/>
        </p:nvSpPr>
        <p:spPr>
          <a:xfrm>
            <a:off x="502920" y="226771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AI-Financial-Intelligence-Fraud/</a:t>
            </a:r>
          </a:p>
        </p:txBody>
      </p:sp>
      <p:sp>
        <p:nvSpPr>
          <p:cNvPr id="10" name="tree_1"/>
          <p:cNvSpPr txBox="1"/>
          <p:nvPr/>
        </p:nvSpPr>
        <p:spPr>
          <a:xfrm>
            <a:off x="502920" y="255117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</a:rPr>
              <a:t>  backend/</a:t>
            </a:r>
          </a:p>
        </p:txBody>
      </p:sp>
      <p:sp>
        <p:nvSpPr>
          <p:cNvPr id="11" name="tree_2"/>
          <p:cNvSpPr txBox="1"/>
          <p:nvPr/>
        </p:nvSpPr>
        <p:spPr>
          <a:xfrm>
            <a:off x="502920" y="28346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  app/api/v1/          &lt;- REST endpoints</a:t>
            </a:r>
          </a:p>
        </p:txBody>
      </p:sp>
      <p:sp>
        <p:nvSpPr>
          <p:cNvPr id="12" name="tree_3"/>
          <p:cNvSpPr txBox="1"/>
          <p:nvPr/>
        </p:nvSpPr>
        <p:spPr>
          <a:xfrm>
            <a:off x="502920" y="3118104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  app/ml/              &lt;- ML pipeline</a:t>
            </a:r>
          </a:p>
        </p:txBody>
      </p:sp>
      <p:sp>
        <p:nvSpPr>
          <p:cNvPr id="13" name="tree_4"/>
          <p:cNvSpPr txBox="1"/>
          <p:nvPr/>
        </p:nvSpPr>
        <p:spPr>
          <a:xfrm>
            <a:off x="502920" y="3401568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  app/models/          &lt;- SQLAlchemy ORM</a:t>
            </a:r>
          </a:p>
        </p:txBody>
      </p:sp>
      <p:sp>
        <p:nvSpPr>
          <p:cNvPr id="14" name="tree_5"/>
          <p:cNvSpPr txBox="1"/>
          <p:nvPr/>
        </p:nvSpPr>
        <p:spPr>
          <a:xfrm>
            <a:off x="502920" y="36850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  app/services/        &lt;- business logic</a:t>
            </a:r>
          </a:p>
        </p:txBody>
      </p:sp>
      <p:sp>
        <p:nvSpPr>
          <p:cNvPr id="15" name="tree_6"/>
          <p:cNvSpPr txBox="1"/>
          <p:nvPr/>
        </p:nvSpPr>
        <p:spPr>
          <a:xfrm>
            <a:off x="502920" y="396849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0FF87"/>
                </a:solidFill>
              </a:rPr>
              <a:t>    app/config.py        &lt;- all settings</a:t>
            </a:r>
          </a:p>
        </p:txBody>
      </p:sp>
      <p:sp>
        <p:nvSpPr>
          <p:cNvPr id="16" name="tree_7"/>
          <p:cNvSpPr txBox="1"/>
          <p:nvPr/>
        </p:nvSpPr>
        <p:spPr>
          <a:xfrm>
            <a:off x="502920" y="42519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  scripts/seed_data.py  train_models.py</a:t>
            </a:r>
          </a:p>
        </p:txBody>
      </p:sp>
      <p:sp>
        <p:nvSpPr>
          <p:cNvPr id="17" name="tree_8"/>
          <p:cNvSpPr txBox="1"/>
          <p:nvPr/>
        </p:nvSpPr>
        <p:spPr>
          <a:xfrm>
            <a:off x="502920" y="4535424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    .env                 &lt;- API keys here</a:t>
            </a:r>
          </a:p>
        </p:txBody>
      </p:sp>
      <p:sp>
        <p:nvSpPr>
          <p:cNvPr id="18" name="tree_9"/>
          <p:cNvSpPr txBox="1"/>
          <p:nvPr/>
        </p:nvSpPr>
        <p:spPr>
          <a:xfrm>
            <a:off x="502920" y="4818888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</a:rPr>
              <a:t>  frontend/</a:t>
            </a:r>
          </a:p>
        </p:txBody>
      </p:sp>
      <p:sp>
        <p:nvSpPr>
          <p:cNvPr id="19" name="tree_10"/>
          <p:cNvSpPr txBox="1"/>
          <p:nvPr/>
        </p:nvSpPr>
        <p:spPr>
          <a:xfrm>
            <a:off x="502920" y="510235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  app/(dashboard)/     &lt;- dashboard UI</a:t>
            </a:r>
          </a:p>
        </p:txBody>
      </p:sp>
      <p:sp>
        <p:nvSpPr>
          <p:cNvPr id="20" name="tree_11"/>
          <p:cNvSpPr txBox="1"/>
          <p:nvPr/>
        </p:nvSpPr>
        <p:spPr>
          <a:xfrm>
            <a:off x="502920" y="538581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  app/landing/         &lt;- marketing page</a:t>
            </a:r>
          </a:p>
        </p:txBody>
      </p:sp>
      <p:sp>
        <p:nvSpPr>
          <p:cNvPr id="21" name="tree_12"/>
          <p:cNvSpPr txBox="1"/>
          <p:nvPr/>
        </p:nvSpPr>
        <p:spPr>
          <a:xfrm>
            <a:off x="502920" y="566927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    .env.local           &lt;- FE config</a:t>
            </a:r>
          </a:p>
        </p:txBody>
      </p:sp>
      <p:sp>
        <p:nvSpPr>
          <p:cNvPr id="22" name="tree_13"/>
          <p:cNvSpPr txBox="1"/>
          <p:nvPr/>
        </p:nvSpPr>
        <p:spPr>
          <a:xfrm>
            <a:off x="502920" y="5952744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  .github/workflows/     &lt;- CI/CD</a:t>
            </a:r>
          </a:p>
        </p:txBody>
      </p:sp>
      <p:sp>
        <p:nvSpPr>
          <p:cNvPr id="23" name="tree_14"/>
          <p:cNvSpPr txBox="1"/>
          <p:nvPr/>
        </p:nvSpPr>
        <p:spPr>
          <a:xfrm>
            <a:off x="502920" y="6236208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  infrastructure/        &lt;- AWS CDK/TF</a:t>
            </a:r>
          </a:p>
        </p:txBody>
      </p:sp>
      <p:sp>
        <p:nvSpPr>
          <p:cNvPr id="24" name="api_bg"/>
          <p:cNvSpPr/>
          <p:nvPr/>
        </p:nvSpPr>
        <p:spPr>
          <a:xfrm>
            <a:off x="5669280" y="1828800"/>
            <a:ext cx="6035040" cy="22860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pi_hdr"/>
          <p:cNvSpPr/>
          <p:nvPr/>
        </p:nvSpPr>
        <p:spPr>
          <a:xfrm>
            <a:off x="5669280" y="1828800"/>
            <a:ext cx="6035040" cy="34747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"/>
          <p:cNvSpPr txBox="1"/>
          <p:nvPr/>
        </p:nvSpPr>
        <p:spPr>
          <a:xfrm>
            <a:off x="5806440" y="187451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  KEY API ENDPOINTS  (port 8003)</a:t>
            </a:r>
          </a:p>
        </p:txBody>
      </p:sp>
      <p:sp>
        <p:nvSpPr>
          <p:cNvPr id="27" name="ep_m_0"/>
          <p:cNvSpPr/>
          <p:nvPr/>
        </p:nvSpPr>
        <p:spPr>
          <a:xfrm>
            <a:off x="5715000" y="2286000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28" name="ep_path_0"/>
          <p:cNvSpPr txBox="1"/>
          <p:nvPr/>
        </p:nvSpPr>
        <p:spPr>
          <a:xfrm>
            <a:off x="6473952" y="2304288"/>
            <a:ext cx="2743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/api/v1/auth/signup</a:t>
            </a:r>
          </a:p>
        </p:txBody>
      </p:sp>
      <p:sp>
        <p:nvSpPr>
          <p:cNvPr id="29" name="ep_desc_0"/>
          <p:cNvSpPr txBox="1"/>
          <p:nvPr/>
        </p:nvSpPr>
        <p:spPr>
          <a:xfrm>
            <a:off x="9281160" y="23042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Register institution</a:t>
            </a:r>
          </a:p>
        </p:txBody>
      </p:sp>
      <p:sp>
        <p:nvSpPr>
          <p:cNvPr id="30" name="ep_m_1"/>
          <p:cNvSpPr/>
          <p:nvPr/>
        </p:nvSpPr>
        <p:spPr>
          <a:xfrm>
            <a:off x="5715000" y="2542032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31" name="ep_path_1"/>
          <p:cNvSpPr txBox="1"/>
          <p:nvPr/>
        </p:nvSpPr>
        <p:spPr>
          <a:xfrm>
            <a:off x="6473952" y="2560320"/>
            <a:ext cx="2743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/api/v1/auth/login</a:t>
            </a:r>
          </a:p>
        </p:txBody>
      </p:sp>
      <p:sp>
        <p:nvSpPr>
          <p:cNvPr id="32" name="ep_desc_1"/>
          <p:cNvSpPr txBox="1"/>
          <p:nvPr/>
        </p:nvSpPr>
        <p:spPr>
          <a:xfrm>
            <a:off x="9281160" y="2560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JWT tokens</a:t>
            </a:r>
          </a:p>
        </p:txBody>
      </p:sp>
      <p:sp>
        <p:nvSpPr>
          <p:cNvPr id="33" name="ep_m_2"/>
          <p:cNvSpPr/>
          <p:nvPr/>
        </p:nvSpPr>
        <p:spPr>
          <a:xfrm>
            <a:off x="5715000" y="2798064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34" name="ep_path_2"/>
          <p:cNvSpPr txBox="1"/>
          <p:nvPr/>
        </p:nvSpPr>
        <p:spPr>
          <a:xfrm>
            <a:off x="6473952" y="2816352"/>
            <a:ext cx="2743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/api/v1/transactions</a:t>
            </a:r>
          </a:p>
        </p:txBody>
      </p:sp>
      <p:sp>
        <p:nvSpPr>
          <p:cNvPr id="35" name="ep_desc_2"/>
          <p:cNvSpPr txBox="1"/>
          <p:nvPr/>
        </p:nvSpPr>
        <p:spPr>
          <a:xfrm>
            <a:off x="9281160" y="28163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Score + ingest</a:t>
            </a:r>
          </a:p>
        </p:txBody>
      </p:sp>
      <p:sp>
        <p:nvSpPr>
          <p:cNvPr id="36" name="ep_m_3"/>
          <p:cNvSpPr/>
          <p:nvPr/>
        </p:nvSpPr>
        <p:spPr>
          <a:xfrm>
            <a:off x="5715000" y="3054096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37" name="ep_path_3"/>
          <p:cNvSpPr txBox="1"/>
          <p:nvPr/>
        </p:nvSpPr>
        <p:spPr>
          <a:xfrm>
            <a:off x="6473952" y="3072384"/>
            <a:ext cx="2743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/api/v1/transactions/test</a:t>
            </a:r>
          </a:p>
        </p:txBody>
      </p:sp>
      <p:sp>
        <p:nvSpPr>
          <p:cNvPr id="38" name="ep_desc_3"/>
          <p:cNvSpPr txBox="1"/>
          <p:nvPr/>
        </p:nvSpPr>
        <p:spPr>
          <a:xfrm>
            <a:off x="9281160" y="30723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Test transaction</a:t>
            </a:r>
          </a:p>
        </p:txBody>
      </p:sp>
      <p:sp>
        <p:nvSpPr>
          <p:cNvPr id="39" name="ep_m_4"/>
          <p:cNvSpPr/>
          <p:nvPr/>
        </p:nvSpPr>
        <p:spPr>
          <a:xfrm>
            <a:off x="5715000" y="3310128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00FF87"/>
                </a:solidFill>
              </a:rPr>
              <a:t>GET</a:t>
            </a:r>
          </a:p>
        </p:txBody>
      </p:sp>
      <p:sp>
        <p:nvSpPr>
          <p:cNvPr id="40" name="ep_path_4"/>
          <p:cNvSpPr txBox="1"/>
          <p:nvPr/>
        </p:nvSpPr>
        <p:spPr>
          <a:xfrm>
            <a:off x="6473952" y="3328416"/>
            <a:ext cx="2743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/api/v1/fraud-alerts</a:t>
            </a:r>
          </a:p>
        </p:txBody>
      </p:sp>
      <p:sp>
        <p:nvSpPr>
          <p:cNvPr id="41" name="ep_desc_4"/>
          <p:cNvSpPr txBox="1"/>
          <p:nvPr/>
        </p:nvSpPr>
        <p:spPr>
          <a:xfrm>
            <a:off x="9281160" y="332841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Alert queue</a:t>
            </a:r>
          </a:p>
        </p:txBody>
      </p:sp>
      <p:sp>
        <p:nvSpPr>
          <p:cNvPr id="42" name="ep_m_5"/>
          <p:cNvSpPr/>
          <p:nvPr/>
        </p:nvSpPr>
        <p:spPr>
          <a:xfrm>
            <a:off x="5715000" y="3566160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00FF87"/>
                </a:solidFill>
              </a:rPr>
              <a:t>GET</a:t>
            </a:r>
          </a:p>
        </p:txBody>
      </p:sp>
      <p:sp>
        <p:nvSpPr>
          <p:cNvPr id="43" name="ep_path_5"/>
          <p:cNvSpPr txBox="1"/>
          <p:nvPr/>
        </p:nvSpPr>
        <p:spPr>
          <a:xfrm>
            <a:off x="6473952" y="3584448"/>
            <a:ext cx="2743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/api/v1/analytics/overview</a:t>
            </a:r>
          </a:p>
        </p:txBody>
      </p:sp>
      <p:sp>
        <p:nvSpPr>
          <p:cNvPr id="44" name="ep_desc_5"/>
          <p:cNvSpPr txBox="1"/>
          <p:nvPr/>
        </p:nvSpPr>
        <p:spPr>
          <a:xfrm>
            <a:off x="9281160" y="35844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KPI data</a:t>
            </a:r>
          </a:p>
        </p:txBody>
      </p:sp>
      <p:sp>
        <p:nvSpPr>
          <p:cNvPr id="45" name="ep_m_6"/>
          <p:cNvSpPr/>
          <p:nvPr/>
        </p:nvSpPr>
        <p:spPr>
          <a:xfrm>
            <a:off x="5715000" y="3822191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46" name="ep_path_6"/>
          <p:cNvSpPr txBox="1"/>
          <p:nvPr/>
        </p:nvSpPr>
        <p:spPr>
          <a:xfrm>
            <a:off x="6473952" y="3840479"/>
            <a:ext cx="2743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/api/v1/models/retrain</a:t>
            </a:r>
          </a:p>
        </p:txBody>
      </p:sp>
      <p:sp>
        <p:nvSpPr>
          <p:cNvPr id="47" name="ep_desc_6"/>
          <p:cNvSpPr txBox="1"/>
          <p:nvPr/>
        </p:nvSpPr>
        <p:spPr>
          <a:xfrm>
            <a:off x="9281160" y="384047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Trigger retraining</a:t>
            </a:r>
          </a:p>
        </p:txBody>
      </p:sp>
      <p:sp>
        <p:nvSpPr>
          <p:cNvPr id="48" name="ws_bg"/>
          <p:cNvSpPr/>
          <p:nvPr/>
        </p:nvSpPr>
        <p:spPr>
          <a:xfrm>
            <a:off x="5669280" y="4206240"/>
            <a:ext cx="6035040" cy="502920"/>
          </a:xfrm>
          <a:prstGeom prst="rect">
            <a:avLst/>
          </a:prstGeom>
          <a:solidFill>
            <a:srgbClr val="11111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ws_txt"/>
          <p:cNvSpPr txBox="1"/>
          <p:nvPr/>
        </p:nvSpPr>
        <p:spPr>
          <a:xfrm>
            <a:off x="5806440" y="427939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WebSocket:  ws://localhost:8003/ws/{tenant_id}</a:t>
            </a:r>
          </a:p>
        </p:txBody>
      </p:sp>
      <p:sp>
        <p:nvSpPr>
          <p:cNvPr id="50" name="docs_txt"/>
          <p:cNvSpPr txBox="1"/>
          <p:nvPr/>
        </p:nvSpPr>
        <p:spPr>
          <a:xfrm>
            <a:off x="5806440" y="45262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Swagger UI:  http://localhost:8003/docs</a:t>
            </a:r>
          </a:p>
        </p:txBody>
      </p:sp>
      <p:sp>
        <p:nvSpPr>
          <p:cNvPr id="51" name="cred_bg"/>
          <p:cNvSpPr/>
          <p:nvPr/>
        </p:nvSpPr>
        <p:spPr>
          <a:xfrm>
            <a:off x="5669280" y="4800600"/>
            <a:ext cx="6035040" cy="16002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red_hdr"/>
          <p:cNvSpPr/>
          <p:nvPr/>
        </p:nvSpPr>
        <p:spPr>
          <a:xfrm>
            <a:off x="5669280" y="4800600"/>
            <a:ext cx="6035040" cy="32004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"/>
          <p:cNvSpPr txBox="1"/>
          <p:nvPr/>
        </p:nvSpPr>
        <p:spPr>
          <a:xfrm>
            <a:off x="5806440" y="484632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  DEFAULT TEST CREDENTIALS  (seed_data.py)</a:t>
            </a:r>
          </a:p>
        </p:txBody>
      </p:sp>
      <p:sp>
        <p:nvSpPr>
          <p:cNvPr id="54" name="cr_0"/>
          <p:cNvSpPr/>
          <p:nvPr/>
        </p:nvSpPr>
        <p:spPr>
          <a:xfrm>
            <a:off x="5715000" y="519379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59E0B"/>
                </a:solidFill>
              </a:rPr>
              <a:t>Admin</a:t>
            </a:r>
          </a:p>
        </p:txBody>
      </p:sp>
      <p:sp>
        <p:nvSpPr>
          <p:cNvPr id="55" name="cemail_0_bg"/>
          <p:cNvSpPr/>
          <p:nvPr/>
        </p:nvSpPr>
        <p:spPr>
          <a:xfrm>
            <a:off x="6720840" y="5193792"/>
            <a:ext cx="2468880" cy="2743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email_0"/>
          <p:cNvSpPr txBox="1"/>
          <p:nvPr/>
        </p:nvSpPr>
        <p:spPr>
          <a:xfrm>
            <a:off x="6830568" y="52395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FF87"/>
                </a:solidFill>
              </a:rPr>
              <a:t>admin@finshield.local</a:t>
            </a:r>
          </a:p>
        </p:txBody>
      </p:sp>
      <p:sp>
        <p:nvSpPr>
          <p:cNvPr id="57" name="cpwd_0_bg"/>
          <p:cNvSpPr/>
          <p:nvPr/>
        </p:nvSpPr>
        <p:spPr>
          <a:xfrm>
            <a:off x="9235440" y="5193792"/>
            <a:ext cx="2286000" cy="2743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pwd_0"/>
          <p:cNvSpPr txBox="1"/>
          <p:nvPr/>
        </p:nvSpPr>
        <p:spPr>
          <a:xfrm>
            <a:off x="9345167" y="523951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Admin123!@#</a:t>
            </a:r>
          </a:p>
        </p:txBody>
      </p:sp>
      <p:sp>
        <p:nvSpPr>
          <p:cNvPr id="59" name="cr_1"/>
          <p:cNvSpPr/>
          <p:nvPr/>
        </p:nvSpPr>
        <p:spPr>
          <a:xfrm>
            <a:off x="5715000" y="570585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59E0B"/>
                </a:solidFill>
              </a:rPr>
              <a:t>Analyst</a:t>
            </a:r>
          </a:p>
        </p:txBody>
      </p:sp>
      <p:sp>
        <p:nvSpPr>
          <p:cNvPr id="60" name="cemail_1_bg"/>
          <p:cNvSpPr/>
          <p:nvPr/>
        </p:nvSpPr>
        <p:spPr>
          <a:xfrm>
            <a:off x="6720840" y="5705856"/>
            <a:ext cx="2468880" cy="2743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email_1"/>
          <p:cNvSpPr txBox="1"/>
          <p:nvPr/>
        </p:nvSpPr>
        <p:spPr>
          <a:xfrm>
            <a:off x="6830568" y="575157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FF87"/>
                </a:solidFill>
              </a:rPr>
              <a:t>analyst@finshield.local</a:t>
            </a:r>
          </a:p>
        </p:txBody>
      </p:sp>
      <p:sp>
        <p:nvSpPr>
          <p:cNvPr id="62" name="cpwd_1_bg"/>
          <p:cNvSpPr/>
          <p:nvPr/>
        </p:nvSpPr>
        <p:spPr>
          <a:xfrm>
            <a:off x="9235440" y="5705856"/>
            <a:ext cx="2286000" cy="274320"/>
          </a:xfrm>
          <a:prstGeom prst="rect">
            <a:avLst/>
          </a:prstGeom>
          <a:solidFill>
            <a:srgbClr val="0D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pwd_1"/>
          <p:cNvSpPr txBox="1"/>
          <p:nvPr/>
        </p:nvSpPr>
        <p:spPr>
          <a:xfrm>
            <a:off x="9345167" y="575157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Analyst123!@#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_07"/>
          <p:cNvSpPr/>
          <p:nvPr/>
        </p:nvSpPr>
        <p:spPr>
          <a:xfrm>
            <a:off x="457200" y="292608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59E0B"/>
                </a:solidFill>
              </a:rPr>
              <a:t>07 / FUTURE</a:t>
            </a:r>
          </a:p>
        </p:txBody>
      </p:sp>
      <p:sp>
        <p:nvSpPr>
          <p:cNvPr id="3" name="hdr_07"/>
          <p:cNvSpPr txBox="1"/>
          <p:nvPr/>
        </p:nvSpPr>
        <p:spPr>
          <a:xfrm>
            <a:off x="457200" y="713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Growth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92608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p_0.4"/>
          <p:cNvSpPr/>
          <p:nvPr/>
        </p:nvSpPr>
        <p:spPr>
          <a:xfrm>
            <a:off x="365760" y="1920240"/>
            <a:ext cx="5394960" cy="2148840"/>
          </a:xfrm>
          <a:prstGeom prst="rect">
            <a:avLst/>
          </a:prstGeom>
          <a:solidFill>
            <a:srgbClr val="111118"/>
          </a:solidFill>
          <a:ln w="9525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pb_0.4"/>
          <p:cNvSpPr/>
          <p:nvPr/>
        </p:nvSpPr>
        <p:spPr>
          <a:xfrm>
            <a:off x="365760" y="1920240"/>
            <a:ext cx="5394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pt_0.4"/>
          <p:cNvSpPr txBox="1"/>
          <p:nvPr/>
        </p:nvSpPr>
        <p:spPr>
          <a:xfrm>
            <a:off x="548640" y="20848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Cross-Institution
Fraud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5029200" cy="50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pd_0.4"/>
          <p:cNvSpPr txBox="1"/>
          <p:nvPr/>
        </p:nvSpPr>
        <p:spPr>
          <a:xfrm>
            <a:off x="548640" y="2926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Federated ML — share anonymised fraud signals across institutions.
Catch fraud rings that span multiple banks without sharing PII.</a:t>
            </a:r>
          </a:p>
        </p:txBody>
      </p:sp>
      <p:sp>
        <p:nvSpPr>
          <p:cNvPr id="10" name="op_7.0"/>
          <p:cNvSpPr/>
          <p:nvPr/>
        </p:nvSpPr>
        <p:spPr>
          <a:xfrm>
            <a:off x="6400800" y="1920240"/>
            <a:ext cx="5394960" cy="2148840"/>
          </a:xfrm>
          <a:prstGeom prst="rect">
            <a:avLst/>
          </a:prstGeom>
          <a:solidFill>
            <a:srgbClr val="111118"/>
          </a:solidFill>
          <a:ln w="9525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pb_7.0"/>
          <p:cNvSpPr/>
          <p:nvPr/>
        </p:nvSpPr>
        <p:spPr>
          <a:xfrm>
            <a:off x="6400800" y="1920240"/>
            <a:ext cx="53949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pt_7.0"/>
          <p:cNvSpPr txBox="1"/>
          <p:nvPr/>
        </p:nvSpPr>
        <p:spPr>
          <a:xfrm>
            <a:off x="6583680" y="20848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Mobile SDK &amp;
Embedded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834640"/>
            <a:ext cx="5029200" cy="50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pd_7.0"/>
          <p:cNvSpPr txBox="1"/>
          <p:nvPr/>
        </p:nvSpPr>
        <p:spPr>
          <a:xfrm>
            <a:off x="6583680" y="2926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Drop-in iOS/Android SDK — device fingerprinting, behavioural
biometrics and real-time scoring directly in the client app.</a:t>
            </a:r>
          </a:p>
        </p:txBody>
      </p:sp>
      <p:sp>
        <p:nvSpPr>
          <p:cNvPr id="15" name="op_0.4"/>
          <p:cNvSpPr/>
          <p:nvPr/>
        </p:nvSpPr>
        <p:spPr>
          <a:xfrm>
            <a:off x="365760" y="4389120"/>
            <a:ext cx="5394960" cy="2148840"/>
          </a:xfrm>
          <a:prstGeom prst="rect">
            <a:avLst/>
          </a:prstGeom>
          <a:solidFill>
            <a:srgbClr val="111118"/>
          </a:solidFill>
          <a:ln w="9525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pb_0.4"/>
          <p:cNvSpPr/>
          <p:nvPr/>
        </p:nvSpPr>
        <p:spPr>
          <a:xfrm>
            <a:off x="365760" y="4389120"/>
            <a:ext cx="5394960" cy="54864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pt_0.4"/>
          <p:cNvSpPr txBox="1"/>
          <p:nvPr/>
        </p:nvSpPr>
        <p:spPr>
          <a:xfrm>
            <a:off x="548640" y="455371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7"/>
                </a:solidFill>
              </a:rPr>
              <a:t>Gen-AI Case
Summaries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03520"/>
            <a:ext cx="5029200" cy="50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pd_0.4"/>
          <p:cNvSpPr txBox="1"/>
          <p:nvPr/>
        </p:nvSpPr>
        <p:spPr>
          <a:xfrm>
            <a:off x="54864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LLM-powered auto-generated investigation reports.
Summarise fraud evidence and suggest resolution in plain language.</a:t>
            </a:r>
          </a:p>
        </p:txBody>
      </p:sp>
      <p:sp>
        <p:nvSpPr>
          <p:cNvPr id="20" name="op_7.0"/>
          <p:cNvSpPr/>
          <p:nvPr/>
        </p:nvSpPr>
        <p:spPr>
          <a:xfrm>
            <a:off x="6400800" y="4389120"/>
            <a:ext cx="5394960" cy="2148840"/>
          </a:xfrm>
          <a:prstGeom prst="rect">
            <a:avLst/>
          </a:prstGeom>
          <a:solidFill>
            <a:srgbClr val="111118"/>
          </a:solidFill>
          <a:ln w="9525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pb_7.0"/>
          <p:cNvSpPr/>
          <p:nvPr/>
        </p:nvSpPr>
        <p:spPr>
          <a:xfrm>
            <a:off x="6400800" y="4389120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pt_7.0"/>
          <p:cNvSpPr txBox="1"/>
          <p:nvPr/>
        </p:nvSpPr>
        <p:spPr>
          <a:xfrm>
            <a:off x="6583680" y="455371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Regulatory
Auto-Reporting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5303520"/>
            <a:ext cx="5029200" cy="50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pd_7.0"/>
          <p:cNvSpPr txBox="1"/>
          <p:nvPr/>
        </p:nvSpPr>
        <p:spPr>
          <a:xfrm>
            <a:off x="658368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One-click SAR generation (RBI, FinCEN, EU directives).
Reduces compliance documentation overhead by ~80%.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94076" y="228600"/>
            <a:ext cx="6400800" cy="6400800"/>
          </a:xfrm>
          <a:prstGeom prst="ellipse">
            <a:avLst/>
          </a:prstGeom>
          <a:solidFill>
            <a:srgbClr val="001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037076" y="1371600"/>
            <a:ext cx="4114800" cy="4114800"/>
          </a:xfrm>
          <a:prstGeom prst="ellipse">
            <a:avLst/>
          </a:prstGeom>
          <a:solidFill>
            <a:srgbClr val="08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emo##09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3474720"/>
            <a:ext cx="5212080" cy="12700"/>
          </a:xfrm>
          <a:prstGeom prst="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emo_sub##09"/>
          <p:cNvSpPr txBox="1"/>
          <p:nvPr/>
        </p:nvSpPr>
        <p:spPr>
          <a:xfrm>
            <a:off x="457200" y="3611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Walk-through  ·  FinShield AI  ·  End-to-End</a:t>
            </a:r>
          </a:p>
        </p:txBody>
      </p:sp>
      <p:sp>
        <p:nvSpPr>
          <p:cNvPr id="7" name="num_0"/>
          <p:cNvSpPr/>
          <p:nvPr/>
        </p:nvSpPr>
        <p:spPr>
          <a:xfrm>
            <a:off x="1234440" y="4480560"/>
            <a:ext cx="457200" cy="347472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0A0A0F"/>
                </a:solidFill>
              </a:rPr>
              <a:t>1</a:t>
            </a:r>
          </a:p>
        </p:txBody>
      </p:sp>
      <p:sp>
        <p:nvSpPr>
          <p:cNvPr id="8" name="step_0"/>
          <p:cNvSpPr txBox="1"/>
          <p:nvPr/>
        </p:nvSpPr>
        <p:spPr>
          <a:xfrm>
            <a:off x="594360" y="491947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Sign Up &amp;
Choose Plan</a:t>
            </a:r>
          </a:p>
        </p:txBody>
      </p:sp>
      <p:sp>
        <p:nvSpPr>
          <p:cNvPr id="9" name="num_1"/>
          <p:cNvSpPr/>
          <p:nvPr/>
        </p:nvSpPr>
        <p:spPr>
          <a:xfrm>
            <a:off x="3200400" y="4480560"/>
            <a:ext cx="457200" cy="347472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0A0A0F"/>
                </a:solidFill>
              </a:rPr>
              <a:t>2</a:t>
            </a:r>
          </a:p>
        </p:txBody>
      </p:sp>
      <p:sp>
        <p:nvSpPr>
          <p:cNvPr id="10" name="step_1"/>
          <p:cNvSpPr txBox="1"/>
          <p:nvPr/>
        </p:nvSpPr>
        <p:spPr>
          <a:xfrm>
            <a:off x="2560320" y="491947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Connect
Database</a:t>
            </a:r>
          </a:p>
        </p:txBody>
      </p:sp>
      <p:sp>
        <p:nvSpPr>
          <p:cNvPr id="11" name="num_2"/>
          <p:cNvSpPr/>
          <p:nvPr/>
        </p:nvSpPr>
        <p:spPr>
          <a:xfrm>
            <a:off x="5166359" y="4480560"/>
            <a:ext cx="457200" cy="347472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0A0A0F"/>
                </a:solidFill>
              </a:rPr>
              <a:t>3</a:t>
            </a:r>
          </a:p>
        </p:txBody>
      </p:sp>
      <p:sp>
        <p:nvSpPr>
          <p:cNvPr id="12" name="step_2"/>
          <p:cNvSpPr txBox="1"/>
          <p:nvPr/>
        </p:nvSpPr>
        <p:spPr>
          <a:xfrm>
            <a:off x="4526279" y="491947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Score a
Transaction</a:t>
            </a:r>
          </a:p>
        </p:txBody>
      </p:sp>
      <p:sp>
        <p:nvSpPr>
          <p:cNvPr id="13" name="num_3"/>
          <p:cNvSpPr/>
          <p:nvPr/>
        </p:nvSpPr>
        <p:spPr>
          <a:xfrm>
            <a:off x="7132319" y="4480560"/>
            <a:ext cx="457200" cy="347472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0A0A0F"/>
                </a:solidFill>
              </a:rPr>
              <a:t>4</a:t>
            </a:r>
          </a:p>
        </p:txBody>
      </p:sp>
      <p:sp>
        <p:nvSpPr>
          <p:cNvPr id="14" name="step_3"/>
          <p:cNvSpPr txBox="1"/>
          <p:nvPr/>
        </p:nvSpPr>
        <p:spPr>
          <a:xfrm>
            <a:off x="6492239" y="491947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Review
Alerts</a:t>
            </a:r>
          </a:p>
        </p:txBody>
      </p:sp>
      <p:sp>
        <p:nvSpPr>
          <p:cNvPr id="15" name="num_4"/>
          <p:cNvSpPr/>
          <p:nvPr/>
        </p:nvSpPr>
        <p:spPr>
          <a:xfrm>
            <a:off x="9098280" y="4480560"/>
            <a:ext cx="457200" cy="347472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0A0A0F"/>
                </a:solidFill>
              </a:rPr>
              <a:t>5</a:t>
            </a:r>
          </a:p>
        </p:txBody>
      </p:sp>
      <p:sp>
        <p:nvSpPr>
          <p:cNvPr id="16" name="step_4"/>
          <p:cNvSpPr txBox="1"/>
          <p:nvPr/>
        </p:nvSpPr>
        <p:spPr>
          <a:xfrm>
            <a:off x="8458200" y="491947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Test Me
Tab</a:t>
            </a:r>
          </a:p>
        </p:txBody>
      </p:sp>
      <p:sp>
        <p:nvSpPr>
          <p:cNvPr id="17" name="num_5"/>
          <p:cNvSpPr/>
          <p:nvPr/>
        </p:nvSpPr>
        <p:spPr>
          <a:xfrm>
            <a:off x="11064240" y="4480560"/>
            <a:ext cx="457200" cy="347472"/>
          </a:xfrm>
          <a:prstGeom prst="roundRect">
            <a:avLst>
              <a:gd name="adj" fmla="val 50000"/>
            </a:avLst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0A0A0F"/>
                </a:solidFill>
              </a:rPr>
              <a:t>6</a:t>
            </a:r>
          </a:p>
        </p:txBody>
      </p:sp>
      <p:sp>
        <p:nvSpPr>
          <p:cNvPr id="18" name="step_5"/>
          <p:cNvSpPr txBox="1"/>
          <p:nvPr/>
        </p:nvSpPr>
        <p:spPr>
          <a:xfrm>
            <a:off x="10424160" y="491947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Model
Metrics</a:t>
            </a:r>
          </a:p>
        </p:txBody>
      </p:sp>
      <p:sp>
        <p:nvSpPr>
          <p:cNvPr id="19" name="thanks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</a:rPr>
              <a:t>Thank you  ·  Questions welcome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1657</Words>
  <Application>Microsoft Office PowerPoint</Application>
  <PresentationFormat>Custom</PresentationFormat>
  <Paragraphs>237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Gupta</cp:lastModifiedBy>
  <cp:revision>2</cp:revision>
  <dcterms:created xsi:type="dcterms:W3CDTF">2013-01-27T09:14:16Z</dcterms:created>
  <dcterms:modified xsi:type="dcterms:W3CDTF">2026-04-16T15:33:13Z</dcterms:modified>
  <cp:category/>
</cp:coreProperties>
</file>